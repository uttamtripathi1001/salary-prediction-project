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29.svg" ContentType="image/svg+xml"/>
  <Override PartName="/ppt/media/image31.svg" ContentType="image/svg+xml"/>
  <Override PartName="/ppt/media/image33.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71" r:id="rId15"/>
    <p:sldId id="273" r:id="rId16"/>
    <p:sldId id="274" r:id="rId17"/>
    <p:sldId id="275" r:id="rId18"/>
    <p:sldId id="276" r:id="rId19"/>
    <p:sldId id="277" r:id="rId20"/>
  </p:sldIdLst>
  <p:sldSz cx="14630400" cy="8229600"/>
  <p:notesSz cx="8229600" cy="14630400"/>
  <p:embeddedFontLst>
    <p:embeddedFont>
      <p:font typeface="Playfair Display Semi Bold" pitchFamily="34" charset="0"/>
      <p:bold r:id="rId24"/>
    </p:embeddedFont>
    <p:embeddedFont>
      <p:font typeface="Playfair Display Semi Bold" pitchFamily="34" charset="-122"/>
      <p:bold r:id="rId25"/>
    </p:embeddedFont>
    <p:embeddedFont>
      <p:font typeface="Playfair Display Semi Bold" pitchFamily="34" charset="-120"/>
      <p:bold r:id="rId26"/>
    </p:embeddedFont>
    <p:embeddedFont>
      <p:font typeface="Public Sans" pitchFamily="34" charset="0"/>
      <p:bold r:id="rId27"/>
    </p:embeddedFont>
    <p:embeddedFont>
      <p:font typeface="Public Sans" pitchFamily="34" charset="-122"/>
      <p:bold r:id="rId28"/>
    </p:embeddedFont>
    <p:embeddedFont>
      <p:font typeface="Public Sans" pitchFamily="34" charset="-120"/>
      <p:bold r:id="rId29"/>
    </p:embeddedFont>
    <p:embeddedFont>
      <p:font typeface="Consolas" panose="020B0609020204030204" pitchFamily="34" charset="0"/>
      <p:regular r:id="rId30"/>
      <p:bold r:id="rId31"/>
      <p:italic r:id="rId32"/>
      <p:boldItalic r:id="rId33"/>
    </p:embeddedFont>
    <p:embeddedFont>
      <p:font typeface="Consolas" panose="020B0609020204030204" pitchFamily="34" charset="-122"/>
      <p:regular r:id="rId34"/>
    </p:embeddedFont>
    <p:embeddedFont>
      <p:font typeface="Consolas" panose="020B0609020204030204" pitchFamily="34" charset="-120"/>
      <p:regular r:id="rId35"/>
    </p:embeddedFont>
    <p:embeddedFont>
      <p:font typeface="Calibri" panose="020F0502020204030204" charset="0"/>
      <p:regular r:id="rId36"/>
      <p:bold r:id="rId37"/>
      <p:italic r:id="rId38"/>
      <p:boldItalic r:id="rId3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210623e-275e-4ef9-a09e-8bfde2fea9e6}">
          <p14:sldIdLst>
            <p14:sldId id="256"/>
            <p14:sldId id="257"/>
            <p14:sldId id="258"/>
            <p14:sldId id="259"/>
            <p14:sldId id="260"/>
            <p14:sldId id="261"/>
            <p14:sldId id="262"/>
            <p14:sldId id="263"/>
            <p14:sldId id="264"/>
            <p14:sldId id="265"/>
            <p14:sldId id="271"/>
            <p14:sldId id="273"/>
            <p14:sldId id="274"/>
            <p14:sldId id="275"/>
            <p14:sldId id="276"/>
            <p14:sldId id="277"/>
          </p14:sldIdLst>
        </p14:section>
        <p14:section name="Untitled Section" id="{12c1e8b4-6741-410c-a7ec-64652256c8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9" Type="http://schemas.openxmlformats.org/officeDocument/2006/relationships/font" Target="fonts/font16.fntdata"/><Relationship Id="rId38" Type="http://schemas.openxmlformats.org/officeDocument/2006/relationships/font" Target="fonts/font15.fntdata"/><Relationship Id="rId37" Type="http://schemas.openxmlformats.org/officeDocument/2006/relationships/font" Target="fonts/font14.fntdata"/><Relationship Id="rId36" Type="http://schemas.openxmlformats.org/officeDocument/2006/relationships/font" Target="fonts/font13.fntdata"/><Relationship Id="rId35" Type="http://schemas.openxmlformats.org/officeDocument/2006/relationships/font" Target="fonts/font12.fntdata"/><Relationship Id="rId34" Type="http://schemas.openxmlformats.org/officeDocument/2006/relationships/font" Target="fonts/font11.fntdata"/><Relationship Id="rId33" Type="http://schemas.openxmlformats.org/officeDocument/2006/relationships/font" Target="fonts/font10.fntdata"/><Relationship Id="rId32" Type="http://schemas.openxmlformats.org/officeDocument/2006/relationships/font" Target="fonts/font9.fntdata"/><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Master" Target="slideMasters/slideMaster2.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5.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0.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5.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6.xml"/><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7.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8.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6035040" cy="8229600"/>
          </a:xfrm>
          <a:prstGeom prst="rect">
            <a:avLst/>
          </a:prstGeom>
        </p:spPr>
      </p:pic>
      <p:sp>
        <p:nvSpPr>
          <p:cNvPr id="3" name="Text 0"/>
          <p:cNvSpPr/>
          <p:nvPr/>
        </p:nvSpPr>
        <p:spPr>
          <a:xfrm>
            <a:off x="6280190" y="3054429"/>
            <a:ext cx="7556421" cy="1417558"/>
          </a:xfrm>
          <a:prstGeom prst="rect">
            <a:avLst/>
          </a:prstGeom>
          <a:noFill/>
        </p:spPr>
        <p:txBody>
          <a:bodyPr wrap="square" lIns="0" tIns="0" rIns="0" bIns="0" rtlCol="0" anchor="t"/>
          <a:lstStyle/>
          <a:p>
            <a:pPr marL="0" indent="0" algn="l">
              <a:lnSpc>
                <a:spcPts val="5550"/>
              </a:lnSpc>
              <a:buNone/>
            </a:pPr>
            <a:r>
              <a:rPr lang="en-US" sz="4450" dirty="0">
                <a:solidFill>
                  <a:srgbClr val="4B6981"/>
                </a:solidFill>
                <a:latin typeface="Playfair Display Semi Bold" pitchFamily="34" charset="0"/>
                <a:ea typeface="Playfair Display Semi Bold" pitchFamily="34" charset="-122"/>
                <a:cs typeface="Playfair Display Semi Bold" pitchFamily="34" charset="-120"/>
              </a:rPr>
              <a:t>Salary Prediction System using Linear Regression</a:t>
            </a:r>
            <a:endParaRPr lang="en-US" sz="4450" dirty="0"/>
          </a:p>
        </p:txBody>
      </p:sp>
      <p:sp>
        <p:nvSpPr>
          <p:cNvPr id="4" name="Text 1"/>
          <p:cNvSpPr/>
          <p:nvPr/>
        </p:nvSpPr>
        <p:spPr>
          <a:xfrm>
            <a:off x="6280190" y="4812149"/>
            <a:ext cx="7556421" cy="362903"/>
          </a:xfrm>
          <a:prstGeom prst="rect">
            <a:avLst/>
          </a:prstGeom>
          <a:noFill/>
        </p:spPr>
        <p:txBody>
          <a:bodyPr wrap="non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Uttam Kumar Tripathi | BTech AI/ML Student</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25354"/>
            <a:ext cx="5670590" cy="708779"/>
          </a:xfrm>
          <a:prstGeom prst="rect">
            <a:avLst/>
          </a:prstGeom>
          <a:noFill/>
        </p:spPr>
        <p:txBody>
          <a:bodyPr wrap="none" lIns="0" tIns="0" rIns="0" bIns="0" rtlCol="0" anchor="t"/>
          <a:lstStyle/>
          <a:p>
            <a:pPr marL="0" indent="0" algn="l">
              <a:lnSpc>
                <a:spcPts val="5550"/>
              </a:lnSpc>
              <a:buNone/>
            </a:pPr>
            <a:r>
              <a:rPr lang="en-US" sz="4450" dirty="0">
                <a:solidFill>
                  <a:srgbClr val="4B6981"/>
                </a:solidFill>
                <a:latin typeface="Playfair Display Semi Bold" pitchFamily="34" charset="0"/>
                <a:ea typeface="Playfair Display Semi Bold" pitchFamily="34" charset="-122"/>
                <a:cs typeface="Playfair Display Semi Bold" pitchFamily="34" charset="-120"/>
              </a:rPr>
              <a:t>Project Overview</a:t>
            </a:r>
            <a:endParaRPr lang="en-US" sz="4450" dirty="0"/>
          </a:p>
        </p:txBody>
      </p:sp>
      <p:sp>
        <p:nvSpPr>
          <p:cNvPr id="3" name="Text 1"/>
          <p:cNvSpPr/>
          <p:nvPr/>
        </p:nvSpPr>
        <p:spPr>
          <a:xfrm>
            <a:off x="793790" y="2178368"/>
            <a:ext cx="4205168" cy="2540318"/>
          </a:xfrm>
          <a:prstGeom prst="rect">
            <a:avLst/>
          </a:prstGeom>
          <a:noFill/>
        </p:spPr>
        <p:txBody>
          <a:bodyPr wrap="squar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This machine learning project focuses on predicting employee salaries using Linear Regression. The model analyzes key features such as education level, years of experience, job title, and demographic factors to estimate compensation accurately.</a:t>
            </a:r>
            <a:endParaRPr lang="en-US" sz="1750" dirty="0"/>
          </a:p>
        </p:txBody>
      </p:sp>
      <p:sp>
        <p:nvSpPr>
          <p:cNvPr id="4" name="Text 2"/>
          <p:cNvSpPr/>
          <p:nvPr/>
        </p:nvSpPr>
        <p:spPr>
          <a:xfrm>
            <a:off x="793790" y="4922758"/>
            <a:ext cx="4205168" cy="2177415"/>
          </a:xfrm>
          <a:prstGeom prst="rect">
            <a:avLst/>
          </a:prstGeom>
          <a:noFill/>
        </p:spPr>
        <p:txBody>
          <a:bodyPr wrap="squar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By leveraging historical salary data, the system learns patterns and relationships between various professional attributes and salary outcomes, enabling organizations to make informed compensation decisions.</a:t>
            </a:r>
            <a:endParaRPr lang="en-US" sz="1750" dirty="0"/>
          </a:p>
        </p:txBody>
      </p:sp>
      <p:pic>
        <p:nvPicPr>
          <p:cNvPr id="5" name="Image 0" descr="preencoded.png"/>
          <p:cNvPicPr>
            <a:picLocks noChangeAspect="1"/>
          </p:cNvPicPr>
          <p:nvPr/>
        </p:nvPicPr>
        <p:blipFill>
          <a:blip r:embed="rId1"/>
          <a:stretch>
            <a:fillRect/>
          </a:stretch>
        </p:blipFill>
        <p:spPr>
          <a:xfrm>
            <a:off x="5559981" y="2327434"/>
            <a:ext cx="8284131" cy="46236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45833"/>
            <a:ext cx="5670590" cy="708779"/>
          </a:xfrm>
          <a:prstGeom prst="rect">
            <a:avLst/>
          </a:prstGeom>
          <a:noFill/>
        </p:spPr>
        <p:txBody>
          <a:bodyPr wrap="none" lIns="0" tIns="0" rIns="0" bIns="0" rtlCol="0" anchor="t"/>
          <a:lstStyle/>
          <a:p>
            <a:pPr marL="0" indent="0" algn="l">
              <a:lnSpc>
                <a:spcPts val="5550"/>
              </a:lnSpc>
              <a:buNone/>
            </a:pPr>
            <a:r>
              <a:rPr lang="en-US" sz="4450" dirty="0">
                <a:solidFill>
                  <a:srgbClr val="4B6981"/>
                </a:solidFill>
                <a:latin typeface="Playfair Display Semi Bold" pitchFamily="34" charset="0"/>
                <a:ea typeface="Playfair Display Semi Bold" pitchFamily="34" charset="-122"/>
                <a:cs typeface="Playfair Display Semi Bold" pitchFamily="34" charset="-120"/>
              </a:rPr>
              <a:t>Dataset Description</a:t>
            </a:r>
            <a:endParaRPr lang="en-US" sz="4450" dirty="0"/>
          </a:p>
        </p:txBody>
      </p:sp>
      <p:sp>
        <p:nvSpPr>
          <p:cNvPr id="3" name="Text 1"/>
          <p:cNvSpPr/>
          <p:nvPr/>
        </p:nvSpPr>
        <p:spPr>
          <a:xfrm>
            <a:off x="793790" y="2108240"/>
            <a:ext cx="13042821" cy="362903"/>
          </a:xfrm>
          <a:prstGeom prst="rect">
            <a:avLst/>
          </a:prstGeom>
          <a:noFill/>
        </p:spPr>
        <p:txBody>
          <a:bodyPr wrap="non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The dataset contains comprehensive employee information with diverse features that influence salary determination:</a:t>
            </a:r>
            <a:endParaRPr lang="en-US" sz="1750" dirty="0"/>
          </a:p>
        </p:txBody>
      </p:sp>
      <p:sp>
        <p:nvSpPr>
          <p:cNvPr id="4" name="Shape 2"/>
          <p:cNvSpPr/>
          <p:nvPr/>
        </p:nvSpPr>
        <p:spPr>
          <a:xfrm>
            <a:off x="793790" y="2726293"/>
            <a:ext cx="6407944" cy="1367909"/>
          </a:xfrm>
          <a:prstGeom prst="roundRect">
            <a:avLst>
              <a:gd name="adj" fmla="val 6964"/>
            </a:avLst>
          </a:prstGeom>
          <a:solidFill>
            <a:srgbClr val="FFFAF6"/>
          </a:solidFill>
          <a:ln w="30480">
            <a:solidFill>
              <a:srgbClr val="E1C2C2"/>
            </a:solidFill>
            <a:prstDash val="solid"/>
          </a:ln>
          <a:effectLst>
            <a:outerShdw dist="20320" dir="2700000" algn="bl" rotWithShape="0">
              <a:srgbClr val="E1C2C2">
                <a:alpha val="100000"/>
              </a:srgbClr>
            </a:outerShdw>
          </a:effectLst>
        </p:spPr>
      </p:sp>
      <p:sp>
        <p:nvSpPr>
          <p:cNvPr id="5" name="Text 3"/>
          <p:cNvSpPr/>
          <p:nvPr/>
        </p:nvSpPr>
        <p:spPr>
          <a:xfrm>
            <a:off x="1051084" y="2983587"/>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Education</a:t>
            </a:r>
            <a:endParaRPr lang="en-US" sz="2200" dirty="0"/>
          </a:p>
        </p:txBody>
      </p:sp>
      <p:sp>
        <p:nvSpPr>
          <p:cNvPr id="6" name="Text 4"/>
          <p:cNvSpPr/>
          <p:nvPr/>
        </p:nvSpPr>
        <p:spPr>
          <a:xfrm>
            <a:off x="1051084" y="3474006"/>
            <a:ext cx="5893356" cy="362903"/>
          </a:xfrm>
          <a:prstGeom prst="rect">
            <a:avLst/>
          </a:prstGeom>
          <a:noFill/>
        </p:spPr>
        <p:txBody>
          <a:bodyPr wrap="non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Degree level and field of study</a:t>
            </a:r>
            <a:endParaRPr lang="en-US" sz="1750" dirty="0"/>
          </a:p>
        </p:txBody>
      </p:sp>
      <p:sp>
        <p:nvSpPr>
          <p:cNvPr id="7" name="Shape 5"/>
          <p:cNvSpPr/>
          <p:nvPr/>
        </p:nvSpPr>
        <p:spPr>
          <a:xfrm>
            <a:off x="7428548" y="2726293"/>
            <a:ext cx="6408063" cy="1367909"/>
          </a:xfrm>
          <a:prstGeom prst="roundRect">
            <a:avLst>
              <a:gd name="adj" fmla="val 6964"/>
            </a:avLst>
          </a:prstGeom>
          <a:solidFill>
            <a:srgbClr val="FFFAF6"/>
          </a:solidFill>
          <a:ln w="30480">
            <a:solidFill>
              <a:srgbClr val="CCC4EC"/>
            </a:solidFill>
            <a:prstDash val="solid"/>
          </a:ln>
          <a:effectLst>
            <a:outerShdw dist="20320" dir="2700000" algn="bl" rotWithShape="0">
              <a:srgbClr val="CCC4EC">
                <a:alpha val="100000"/>
              </a:srgbClr>
            </a:outerShdw>
          </a:effectLst>
        </p:spPr>
      </p:sp>
      <p:sp>
        <p:nvSpPr>
          <p:cNvPr id="8" name="Text 6"/>
          <p:cNvSpPr/>
          <p:nvPr/>
        </p:nvSpPr>
        <p:spPr>
          <a:xfrm>
            <a:off x="7685842" y="2983587"/>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Experience</a:t>
            </a:r>
            <a:endParaRPr lang="en-US" sz="2200" dirty="0"/>
          </a:p>
        </p:txBody>
      </p:sp>
      <p:sp>
        <p:nvSpPr>
          <p:cNvPr id="9" name="Text 7"/>
          <p:cNvSpPr/>
          <p:nvPr/>
        </p:nvSpPr>
        <p:spPr>
          <a:xfrm>
            <a:off x="7685842" y="3474006"/>
            <a:ext cx="5893475" cy="362903"/>
          </a:xfrm>
          <a:prstGeom prst="rect">
            <a:avLst/>
          </a:prstGeom>
          <a:noFill/>
        </p:spPr>
        <p:txBody>
          <a:bodyPr wrap="non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Years of professional work</a:t>
            </a:r>
            <a:endParaRPr lang="en-US" sz="1750" dirty="0"/>
          </a:p>
        </p:txBody>
      </p:sp>
      <p:sp>
        <p:nvSpPr>
          <p:cNvPr id="10" name="Shape 8"/>
          <p:cNvSpPr/>
          <p:nvPr/>
        </p:nvSpPr>
        <p:spPr>
          <a:xfrm>
            <a:off x="793790" y="4321016"/>
            <a:ext cx="6407944" cy="1367909"/>
          </a:xfrm>
          <a:prstGeom prst="roundRect">
            <a:avLst>
              <a:gd name="adj" fmla="val 6964"/>
            </a:avLst>
          </a:prstGeom>
          <a:solidFill>
            <a:srgbClr val="FFFAF6"/>
          </a:solidFill>
          <a:ln w="30480">
            <a:solidFill>
              <a:srgbClr val="B4DAE4"/>
            </a:solidFill>
            <a:prstDash val="solid"/>
          </a:ln>
          <a:effectLst>
            <a:outerShdw dist="20320" dir="2700000" algn="bl" rotWithShape="0">
              <a:srgbClr val="B4DAE4">
                <a:alpha val="100000"/>
              </a:srgbClr>
            </a:outerShdw>
          </a:effectLst>
        </p:spPr>
      </p:sp>
      <p:sp>
        <p:nvSpPr>
          <p:cNvPr id="11" name="Text 9"/>
          <p:cNvSpPr/>
          <p:nvPr/>
        </p:nvSpPr>
        <p:spPr>
          <a:xfrm>
            <a:off x="1051084" y="4578310"/>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Location</a:t>
            </a:r>
            <a:endParaRPr lang="en-US" sz="2200" dirty="0"/>
          </a:p>
        </p:txBody>
      </p:sp>
      <p:sp>
        <p:nvSpPr>
          <p:cNvPr id="12" name="Text 10"/>
          <p:cNvSpPr/>
          <p:nvPr/>
        </p:nvSpPr>
        <p:spPr>
          <a:xfrm>
            <a:off x="1051084" y="5068729"/>
            <a:ext cx="5893356" cy="362903"/>
          </a:xfrm>
          <a:prstGeom prst="rect">
            <a:avLst/>
          </a:prstGeom>
          <a:noFill/>
        </p:spPr>
        <p:txBody>
          <a:bodyPr wrap="non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Geographic region and city</a:t>
            </a:r>
            <a:endParaRPr lang="en-US" sz="1750" dirty="0"/>
          </a:p>
        </p:txBody>
      </p:sp>
      <p:sp>
        <p:nvSpPr>
          <p:cNvPr id="13" name="Shape 11"/>
          <p:cNvSpPr/>
          <p:nvPr/>
        </p:nvSpPr>
        <p:spPr>
          <a:xfrm>
            <a:off x="7428548" y="4321016"/>
            <a:ext cx="6408063" cy="1367909"/>
          </a:xfrm>
          <a:prstGeom prst="roundRect">
            <a:avLst>
              <a:gd name="adj" fmla="val 6964"/>
            </a:avLst>
          </a:prstGeom>
          <a:solidFill>
            <a:srgbClr val="FFFAF6"/>
          </a:solidFill>
          <a:ln w="30480">
            <a:solidFill>
              <a:srgbClr val="E1C2C2"/>
            </a:solidFill>
            <a:prstDash val="solid"/>
          </a:ln>
          <a:effectLst>
            <a:outerShdw dist="20320" dir="2700000" algn="bl" rotWithShape="0">
              <a:srgbClr val="E1C2C2">
                <a:alpha val="100000"/>
              </a:srgbClr>
            </a:outerShdw>
          </a:effectLst>
        </p:spPr>
      </p:sp>
      <p:sp>
        <p:nvSpPr>
          <p:cNvPr id="14" name="Text 12"/>
          <p:cNvSpPr/>
          <p:nvPr/>
        </p:nvSpPr>
        <p:spPr>
          <a:xfrm>
            <a:off x="7685842" y="4578310"/>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Job Title</a:t>
            </a:r>
            <a:endParaRPr lang="en-US" sz="2200" dirty="0"/>
          </a:p>
        </p:txBody>
      </p:sp>
      <p:sp>
        <p:nvSpPr>
          <p:cNvPr id="15" name="Text 13"/>
          <p:cNvSpPr/>
          <p:nvPr/>
        </p:nvSpPr>
        <p:spPr>
          <a:xfrm>
            <a:off x="7685842" y="5068729"/>
            <a:ext cx="5893475" cy="362903"/>
          </a:xfrm>
          <a:prstGeom prst="rect">
            <a:avLst/>
          </a:prstGeom>
          <a:noFill/>
        </p:spPr>
        <p:txBody>
          <a:bodyPr wrap="non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Position and role designation</a:t>
            </a:r>
            <a:endParaRPr lang="en-US" sz="1750" dirty="0"/>
          </a:p>
        </p:txBody>
      </p:sp>
      <p:sp>
        <p:nvSpPr>
          <p:cNvPr id="16" name="Shape 14"/>
          <p:cNvSpPr/>
          <p:nvPr/>
        </p:nvSpPr>
        <p:spPr>
          <a:xfrm>
            <a:off x="793790" y="5915739"/>
            <a:ext cx="6407944" cy="1367909"/>
          </a:xfrm>
          <a:prstGeom prst="roundRect">
            <a:avLst>
              <a:gd name="adj" fmla="val 6964"/>
            </a:avLst>
          </a:prstGeom>
          <a:solidFill>
            <a:srgbClr val="FFFAF6"/>
          </a:solidFill>
          <a:ln w="30480">
            <a:solidFill>
              <a:srgbClr val="CCC4EC"/>
            </a:solidFill>
            <a:prstDash val="solid"/>
          </a:ln>
          <a:effectLst>
            <a:outerShdw dist="20320" dir="2700000" algn="bl" rotWithShape="0">
              <a:srgbClr val="CCC4EC">
                <a:alpha val="100000"/>
              </a:srgbClr>
            </a:outerShdw>
          </a:effectLst>
        </p:spPr>
      </p:sp>
      <p:sp>
        <p:nvSpPr>
          <p:cNvPr id="17" name="Text 15"/>
          <p:cNvSpPr/>
          <p:nvPr/>
        </p:nvSpPr>
        <p:spPr>
          <a:xfrm>
            <a:off x="1051084" y="6173033"/>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Age &amp; Gender</a:t>
            </a:r>
            <a:endParaRPr lang="en-US" sz="2200" dirty="0"/>
          </a:p>
        </p:txBody>
      </p:sp>
      <p:sp>
        <p:nvSpPr>
          <p:cNvPr id="18" name="Text 16"/>
          <p:cNvSpPr/>
          <p:nvPr/>
        </p:nvSpPr>
        <p:spPr>
          <a:xfrm>
            <a:off x="1051084" y="6663452"/>
            <a:ext cx="5893356" cy="362903"/>
          </a:xfrm>
          <a:prstGeom prst="rect">
            <a:avLst/>
          </a:prstGeom>
          <a:noFill/>
        </p:spPr>
        <p:txBody>
          <a:bodyPr wrap="non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Demographic characteristics</a:t>
            </a:r>
            <a:endParaRPr lang="en-US" sz="1750" dirty="0"/>
          </a:p>
        </p:txBody>
      </p:sp>
      <p:sp>
        <p:nvSpPr>
          <p:cNvPr id="19" name="Shape 17"/>
          <p:cNvSpPr/>
          <p:nvPr/>
        </p:nvSpPr>
        <p:spPr>
          <a:xfrm>
            <a:off x="7428548" y="5915739"/>
            <a:ext cx="6408063" cy="1367909"/>
          </a:xfrm>
          <a:prstGeom prst="roundRect">
            <a:avLst>
              <a:gd name="adj" fmla="val 6964"/>
            </a:avLst>
          </a:prstGeom>
          <a:solidFill>
            <a:srgbClr val="FFFAF6"/>
          </a:solidFill>
          <a:ln w="30480">
            <a:solidFill>
              <a:srgbClr val="B4DAE4"/>
            </a:solidFill>
            <a:prstDash val="solid"/>
          </a:ln>
          <a:effectLst>
            <a:outerShdw dist="20320" dir="2700000" algn="bl" rotWithShape="0">
              <a:srgbClr val="B4DAE4">
                <a:alpha val="100000"/>
              </a:srgbClr>
            </a:outerShdw>
          </a:effectLst>
        </p:spPr>
      </p:sp>
      <p:sp>
        <p:nvSpPr>
          <p:cNvPr id="20" name="Text 18"/>
          <p:cNvSpPr/>
          <p:nvPr/>
        </p:nvSpPr>
        <p:spPr>
          <a:xfrm>
            <a:off x="7685842" y="6173033"/>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Salary</a:t>
            </a:r>
            <a:endParaRPr lang="en-US" sz="2200" dirty="0"/>
          </a:p>
        </p:txBody>
      </p:sp>
      <p:sp>
        <p:nvSpPr>
          <p:cNvPr id="21" name="Text 19"/>
          <p:cNvSpPr/>
          <p:nvPr/>
        </p:nvSpPr>
        <p:spPr>
          <a:xfrm>
            <a:off x="7685842" y="6663452"/>
            <a:ext cx="5893475" cy="362903"/>
          </a:xfrm>
          <a:prstGeom prst="rect">
            <a:avLst/>
          </a:prstGeom>
          <a:noFill/>
        </p:spPr>
        <p:txBody>
          <a:bodyPr wrap="non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Target variable (compensation)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595360" y="0"/>
            <a:ext cx="6035040" cy="8229600"/>
          </a:xfrm>
          <a:prstGeom prst="rect">
            <a:avLst/>
          </a:prstGeom>
        </p:spPr>
      </p:pic>
      <p:sp>
        <p:nvSpPr>
          <p:cNvPr id="3" name="Text 0"/>
          <p:cNvSpPr/>
          <p:nvPr/>
        </p:nvSpPr>
        <p:spPr>
          <a:xfrm>
            <a:off x="549235" y="763548"/>
            <a:ext cx="4624030" cy="490299"/>
          </a:xfrm>
          <a:prstGeom prst="rect">
            <a:avLst/>
          </a:prstGeom>
          <a:noFill/>
        </p:spPr>
        <p:txBody>
          <a:bodyPr wrap="none" lIns="0" tIns="0" rIns="0" bIns="0" rtlCol="0" anchor="t"/>
          <a:lstStyle/>
          <a:p>
            <a:pPr marL="0" indent="0" algn="l">
              <a:lnSpc>
                <a:spcPts val="3850"/>
              </a:lnSpc>
              <a:buNone/>
            </a:pPr>
            <a:r>
              <a:rPr lang="en-US" sz="3050" dirty="0">
                <a:solidFill>
                  <a:srgbClr val="4B6981"/>
                </a:solidFill>
                <a:latin typeface="Playfair Display Semi Bold" pitchFamily="34" charset="0"/>
                <a:ea typeface="Playfair Display Semi Bold" pitchFamily="34" charset="-122"/>
                <a:cs typeface="Playfair Display Semi Bold" pitchFamily="34" charset="-120"/>
              </a:rPr>
              <a:t>Libraries Used &amp; Purpose</a:t>
            </a:r>
            <a:endParaRPr lang="en-US" sz="3050" dirty="0"/>
          </a:p>
        </p:txBody>
      </p:sp>
      <p:sp>
        <p:nvSpPr>
          <p:cNvPr id="4" name="Shape 1"/>
          <p:cNvSpPr/>
          <p:nvPr/>
        </p:nvSpPr>
        <p:spPr>
          <a:xfrm>
            <a:off x="549235" y="1416606"/>
            <a:ext cx="8045529" cy="1431012"/>
          </a:xfrm>
          <a:prstGeom prst="roundRect">
            <a:avLst>
              <a:gd name="adj" fmla="val 4606"/>
            </a:avLst>
          </a:prstGeom>
          <a:solidFill>
            <a:srgbClr val="F0DEDC"/>
          </a:solidFill>
          <a:ln w="7620">
            <a:solidFill>
              <a:srgbClr val="E1C2C2"/>
            </a:solidFill>
            <a:prstDash val="solid"/>
          </a:ln>
          <a:effectLst>
            <a:outerShdw dist="13970" dir="2700000" algn="bl" rotWithShape="0">
              <a:srgbClr val="E1C2C2">
                <a:alpha val="100000"/>
              </a:srgbClr>
            </a:outerShdw>
          </a:effectLst>
        </p:spPr>
      </p:sp>
      <p:sp>
        <p:nvSpPr>
          <p:cNvPr id="5" name="Shape 2"/>
          <p:cNvSpPr/>
          <p:nvPr/>
        </p:nvSpPr>
        <p:spPr>
          <a:xfrm>
            <a:off x="713780" y="1581150"/>
            <a:ext cx="470773" cy="470773"/>
          </a:xfrm>
          <a:prstGeom prst="roundRect">
            <a:avLst>
              <a:gd name="adj" fmla="val 19421432"/>
            </a:avLst>
          </a:prstGeom>
          <a:solidFill>
            <a:srgbClr val="E1C2C2"/>
          </a:solidFill>
        </p:spPr>
      </p:sp>
      <p:pic>
        <p:nvPicPr>
          <p:cNvPr id="6"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3201" y="1710571"/>
            <a:ext cx="211812" cy="211812"/>
          </a:xfrm>
          <a:prstGeom prst="rect">
            <a:avLst/>
          </a:prstGeom>
        </p:spPr>
      </p:pic>
      <p:sp>
        <p:nvSpPr>
          <p:cNvPr id="7" name="Text 3"/>
          <p:cNvSpPr/>
          <p:nvPr/>
        </p:nvSpPr>
        <p:spPr>
          <a:xfrm>
            <a:off x="713780" y="2160389"/>
            <a:ext cx="1961674" cy="245269"/>
          </a:xfrm>
          <a:prstGeom prst="rect">
            <a:avLst/>
          </a:prstGeom>
          <a:noFill/>
        </p:spPr>
        <p:txBody>
          <a:bodyPr wrap="none" lIns="0" tIns="0" rIns="0" bIns="0" rtlCol="0" anchor="t"/>
          <a:lstStyle/>
          <a:p>
            <a:pPr marL="0" indent="0" algn="l">
              <a:lnSpc>
                <a:spcPts val="1900"/>
              </a:lnSpc>
              <a:buNone/>
            </a:pPr>
            <a:r>
              <a:rPr lang="en-US" sz="1500" dirty="0">
                <a:solidFill>
                  <a:srgbClr val="000000"/>
                </a:solidFill>
                <a:latin typeface="Playfair Display Semi Bold" pitchFamily="34" charset="0"/>
                <a:ea typeface="Playfair Display Semi Bold" pitchFamily="34" charset="-122"/>
                <a:cs typeface="Playfair Display Semi Bold" pitchFamily="34" charset="-120"/>
              </a:rPr>
              <a:t>pandas</a:t>
            </a:r>
            <a:endParaRPr lang="en-US" sz="1500" dirty="0"/>
          </a:p>
        </p:txBody>
      </p:sp>
      <p:sp>
        <p:nvSpPr>
          <p:cNvPr id="8" name="Text 4"/>
          <p:cNvSpPr/>
          <p:nvPr/>
        </p:nvSpPr>
        <p:spPr>
          <a:xfrm>
            <a:off x="713780" y="2470785"/>
            <a:ext cx="7716441" cy="212288"/>
          </a:xfrm>
          <a:prstGeom prst="rect">
            <a:avLst/>
          </a:prstGeom>
          <a:noFill/>
        </p:spPr>
        <p:txBody>
          <a:bodyPr wrap="none" lIns="0" tIns="0" rIns="0" bIns="0" rtlCol="0" anchor="t"/>
          <a:lstStyle/>
          <a:p>
            <a:pPr marL="0" indent="0" algn="l">
              <a:lnSpc>
                <a:spcPts val="1650"/>
              </a:lnSpc>
              <a:buNone/>
            </a:pPr>
            <a:r>
              <a:rPr lang="en-US" sz="1200" dirty="0">
                <a:solidFill>
                  <a:srgbClr val="000000"/>
                </a:solidFill>
                <a:latin typeface="Public Sans" pitchFamily="34" charset="0"/>
                <a:ea typeface="Public Sans" pitchFamily="34" charset="-122"/>
                <a:cs typeface="Public Sans" pitchFamily="34" charset="-120"/>
              </a:rPr>
              <a:t>Data manipulation and handling CSV files efficiently</a:t>
            </a:r>
            <a:endParaRPr lang="en-US" sz="1200" dirty="0"/>
          </a:p>
        </p:txBody>
      </p:sp>
      <p:sp>
        <p:nvSpPr>
          <p:cNvPr id="9" name="Shape 5"/>
          <p:cNvSpPr/>
          <p:nvPr/>
        </p:nvSpPr>
        <p:spPr>
          <a:xfrm>
            <a:off x="549235" y="2956084"/>
            <a:ext cx="8045529" cy="1431012"/>
          </a:xfrm>
          <a:prstGeom prst="roundRect">
            <a:avLst>
              <a:gd name="adj" fmla="val 4606"/>
            </a:avLst>
          </a:prstGeom>
          <a:solidFill>
            <a:srgbClr val="F0DEDC"/>
          </a:solidFill>
          <a:ln w="7620">
            <a:solidFill>
              <a:srgbClr val="CCC4EC"/>
            </a:solidFill>
            <a:prstDash val="solid"/>
          </a:ln>
          <a:effectLst>
            <a:outerShdw dist="13970" dir="2700000" algn="bl" rotWithShape="0">
              <a:srgbClr val="CCC4EC">
                <a:alpha val="100000"/>
              </a:srgbClr>
            </a:outerShdw>
          </a:effectLst>
        </p:spPr>
      </p:sp>
      <p:sp>
        <p:nvSpPr>
          <p:cNvPr id="10" name="Shape 6"/>
          <p:cNvSpPr/>
          <p:nvPr/>
        </p:nvSpPr>
        <p:spPr>
          <a:xfrm>
            <a:off x="713780" y="3120628"/>
            <a:ext cx="470773" cy="470773"/>
          </a:xfrm>
          <a:prstGeom prst="roundRect">
            <a:avLst>
              <a:gd name="adj" fmla="val 19421432"/>
            </a:avLst>
          </a:prstGeom>
          <a:solidFill>
            <a:srgbClr val="CCC4EC"/>
          </a:solidFill>
        </p:spPr>
      </p:sp>
      <p:pic>
        <p:nvPicPr>
          <p:cNvPr id="11" name="Image 2" descr="preencoded.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843201" y="3250049"/>
            <a:ext cx="211812" cy="211812"/>
          </a:xfrm>
          <a:prstGeom prst="rect">
            <a:avLst/>
          </a:prstGeom>
        </p:spPr>
      </p:pic>
      <p:sp>
        <p:nvSpPr>
          <p:cNvPr id="12" name="Text 7"/>
          <p:cNvSpPr/>
          <p:nvPr/>
        </p:nvSpPr>
        <p:spPr>
          <a:xfrm>
            <a:off x="713780" y="3699867"/>
            <a:ext cx="1961674" cy="245269"/>
          </a:xfrm>
          <a:prstGeom prst="rect">
            <a:avLst/>
          </a:prstGeom>
          <a:noFill/>
        </p:spPr>
        <p:txBody>
          <a:bodyPr wrap="none" lIns="0" tIns="0" rIns="0" bIns="0" rtlCol="0" anchor="t"/>
          <a:lstStyle/>
          <a:p>
            <a:pPr marL="0" indent="0" algn="l">
              <a:lnSpc>
                <a:spcPts val="1900"/>
              </a:lnSpc>
              <a:buNone/>
            </a:pPr>
            <a:r>
              <a:rPr lang="en-US" sz="1500" dirty="0">
                <a:solidFill>
                  <a:srgbClr val="000000"/>
                </a:solidFill>
                <a:latin typeface="Playfair Display Semi Bold" pitchFamily="34" charset="0"/>
                <a:ea typeface="Playfair Display Semi Bold" pitchFamily="34" charset="-122"/>
                <a:cs typeface="Playfair Display Semi Bold" pitchFamily="34" charset="-120"/>
              </a:rPr>
              <a:t>numpy</a:t>
            </a:r>
            <a:endParaRPr lang="en-US" sz="1500" dirty="0"/>
          </a:p>
        </p:txBody>
      </p:sp>
      <p:sp>
        <p:nvSpPr>
          <p:cNvPr id="13" name="Text 8"/>
          <p:cNvSpPr/>
          <p:nvPr/>
        </p:nvSpPr>
        <p:spPr>
          <a:xfrm>
            <a:off x="713780" y="4010263"/>
            <a:ext cx="7716441" cy="212288"/>
          </a:xfrm>
          <a:prstGeom prst="rect">
            <a:avLst/>
          </a:prstGeom>
          <a:noFill/>
        </p:spPr>
        <p:txBody>
          <a:bodyPr wrap="none" lIns="0" tIns="0" rIns="0" bIns="0" rtlCol="0" anchor="t"/>
          <a:lstStyle/>
          <a:p>
            <a:pPr marL="0" indent="0" algn="l">
              <a:lnSpc>
                <a:spcPts val="1650"/>
              </a:lnSpc>
              <a:buNone/>
            </a:pPr>
            <a:r>
              <a:rPr lang="en-US" sz="1200" dirty="0">
                <a:solidFill>
                  <a:srgbClr val="000000"/>
                </a:solidFill>
                <a:latin typeface="Public Sans" pitchFamily="34" charset="0"/>
                <a:ea typeface="Public Sans" pitchFamily="34" charset="-122"/>
                <a:cs typeface="Public Sans" pitchFamily="34" charset="-120"/>
              </a:rPr>
              <a:t>Numerical operations and array processing</a:t>
            </a:r>
            <a:endParaRPr lang="en-US" sz="1200" dirty="0"/>
          </a:p>
        </p:txBody>
      </p:sp>
      <p:sp>
        <p:nvSpPr>
          <p:cNvPr id="14" name="Shape 9"/>
          <p:cNvSpPr/>
          <p:nvPr/>
        </p:nvSpPr>
        <p:spPr>
          <a:xfrm>
            <a:off x="549235" y="4495562"/>
            <a:ext cx="8045529" cy="1431012"/>
          </a:xfrm>
          <a:prstGeom prst="roundRect">
            <a:avLst>
              <a:gd name="adj" fmla="val 4606"/>
            </a:avLst>
          </a:prstGeom>
          <a:solidFill>
            <a:srgbClr val="F0DEDC"/>
          </a:solidFill>
          <a:ln w="7620">
            <a:solidFill>
              <a:srgbClr val="B4DAE4"/>
            </a:solidFill>
            <a:prstDash val="solid"/>
          </a:ln>
          <a:effectLst>
            <a:outerShdw dist="13970" dir="2700000" algn="bl" rotWithShape="0">
              <a:srgbClr val="B4DAE4">
                <a:alpha val="100000"/>
              </a:srgbClr>
            </a:outerShdw>
          </a:effectLst>
        </p:spPr>
      </p:sp>
      <p:sp>
        <p:nvSpPr>
          <p:cNvPr id="15" name="Shape 10"/>
          <p:cNvSpPr/>
          <p:nvPr/>
        </p:nvSpPr>
        <p:spPr>
          <a:xfrm>
            <a:off x="713780" y="4660106"/>
            <a:ext cx="470773" cy="470773"/>
          </a:xfrm>
          <a:prstGeom prst="roundRect">
            <a:avLst>
              <a:gd name="adj" fmla="val 19421432"/>
            </a:avLst>
          </a:prstGeom>
          <a:solidFill>
            <a:srgbClr val="B4DAE4"/>
          </a:solidFill>
        </p:spPr>
      </p:sp>
      <p:pic>
        <p:nvPicPr>
          <p:cNvPr id="16" name="Image 3" descr="preencoded.png"/>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843201" y="4789527"/>
            <a:ext cx="211812" cy="211812"/>
          </a:xfrm>
          <a:prstGeom prst="rect">
            <a:avLst/>
          </a:prstGeom>
        </p:spPr>
      </p:pic>
      <p:sp>
        <p:nvSpPr>
          <p:cNvPr id="17" name="Text 11"/>
          <p:cNvSpPr/>
          <p:nvPr/>
        </p:nvSpPr>
        <p:spPr>
          <a:xfrm>
            <a:off x="713780" y="5239345"/>
            <a:ext cx="1961674" cy="245269"/>
          </a:xfrm>
          <a:prstGeom prst="rect">
            <a:avLst/>
          </a:prstGeom>
          <a:noFill/>
        </p:spPr>
        <p:txBody>
          <a:bodyPr wrap="none" lIns="0" tIns="0" rIns="0" bIns="0" rtlCol="0" anchor="t"/>
          <a:lstStyle/>
          <a:p>
            <a:pPr marL="0" indent="0" algn="l">
              <a:lnSpc>
                <a:spcPts val="1900"/>
              </a:lnSpc>
              <a:buNone/>
            </a:pPr>
            <a:r>
              <a:rPr lang="en-US" sz="1500" dirty="0">
                <a:solidFill>
                  <a:srgbClr val="000000"/>
                </a:solidFill>
                <a:latin typeface="Playfair Display Semi Bold" pitchFamily="34" charset="0"/>
                <a:ea typeface="Playfair Display Semi Bold" pitchFamily="34" charset="-122"/>
                <a:cs typeface="Playfair Display Semi Bold" pitchFamily="34" charset="-120"/>
              </a:rPr>
              <a:t>sklearn</a:t>
            </a:r>
            <a:endParaRPr lang="en-US" sz="1500" dirty="0"/>
          </a:p>
        </p:txBody>
      </p:sp>
      <p:sp>
        <p:nvSpPr>
          <p:cNvPr id="18" name="Text 12"/>
          <p:cNvSpPr/>
          <p:nvPr/>
        </p:nvSpPr>
        <p:spPr>
          <a:xfrm>
            <a:off x="713780" y="5549741"/>
            <a:ext cx="7716441" cy="212288"/>
          </a:xfrm>
          <a:prstGeom prst="rect">
            <a:avLst/>
          </a:prstGeom>
          <a:noFill/>
        </p:spPr>
        <p:txBody>
          <a:bodyPr wrap="none" lIns="0" tIns="0" rIns="0" bIns="0" rtlCol="0" anchor="t"/>
          <a:lstStyle/>
          <a:p>
            <a:pPr marL="0" indent="0" algn="l">
              <a:lnSpc>
                <a:spcPts val="1650"/>
              </a:lnSpc>
              <a:buNone/>
            </a:pPr>
            <a:r>
              <a:rPr lang="en-US" sz="1200" dirty="0">
                <a:solidFill>
                  <a:srgbClr val="000000"/>
                </a:solidFill>
                <a:latin typeface="Public Sans" pitchFamily="34" charset="0"/>
                <a:ea typeface="Public Sans" pitchFamily="34" charset="-122"/>
                <a:cs typeface="Public Sans" pitchFamily="34" charset="-120"/>
              </a:rPr>
              <a:t>Machine learning models and evaluation metrics</a:t>
            </a:r>
            <a:endParaRPr lang="en-US" sz="1200" dirty="0"/>
          </a:p>
        </p:txBody>
      </p:sp>
      <p:sp>
        <p:nvSpPr>
          <p:cNvPr id="19" name="Shape 13"/>
          <p:cNvSpPr/>
          <p:nvPr/>
        </p:nvSpPr>
        <p:spPr>
          <a:xfrm>
            <a:off x="549235" y="6035040"/>
            <a:ext cx="8045529" cy="1431012"/>
          </a:xfrm>
          <a:prstGeom prst="roundRect">
            <a:avLst>
              <a:gd name="adj" fmla="val 4606"/>
            </a:avLst>
          </a:prstGeom>
          <a:solidFill>
            <a:srgbClr val="F0DEDC"/>
          </a:solidFill>
          <a:ln w="7620">
            <a:solidFill>
              <a:srgbClr val="E1C2C2"/>
            </a:solidFill>
            <a:prstDash val="solid"/>
          </a:ln>
          <a:effectLst>
            <a:outerShdw dist="13970" dir="2700000" algn="bl" rotWithShape="0">
              <a:srgbClr val="E1C2C2">
                <a:alpha val="100000"/>
              </a:srgbClr>
            </a:outerShdw>
          </a:effectLst>
        </p:spPr>
      </p:sp>
      <p:sp>
        <p:nvSpPr>
          <p:cNvPr id="20" name="Shape 14"/>
          <p:cNvSpPr/>
          <p:nvPr/>
        </p:nvSpPr>
        <p:spPr>
          <a:xfrm>
            <a:off x="713780" y="6199584"/>
            <a:ext cx="470773" cy="470773"/>
          </a:xfrm>
          <a:prstGeom prst="roundRect">
            <a:avLst>
              <a:gd name="adj" fmla="val 19421432"/>
            </a:avLst>
          </a:prstGeom>
          <a:solidFill>
            <a:srgbClr val="E1C2C2"/>
          </a:solidFill>
        </p:spPr>
      </p:sp>
      <p:pic>
        <p:nvPicPr>
          <p:cNvPr id="21" name="Image 4" descr="preencoded.png"/>
          <p:cNvPicPr>
            <a:picLocks noChangeAspect="1"/>
          </p:cNvPicPr>
          <p:nvPr/>
        </p:nvPicPr>
        <p:blipFill>
          <a:blip r:embed="rId2">
            <a:extLst>
              <a:ext uri="{96DAC541-7B7A-43D3-8B79-37D633B846F1}">
                <asvg:svgBlip xmlns:asvg="http://schemas.microsoft.com/office/drawing/2016/SVG/main" r:embed="rId6"/>
              </a:ext>
            </a:extLst>
          </a:blip>
          <a:stretch>
            <a:fillRect/>
          </a:stretch>
        </p:blipFill>
        <p:spPr>
          <a:xfrm>
            <a:off x="843201" y="6329005"/>
            <a:ext cx="211812" cy="211812"/>
          </a:xfrm>
          <a:prstGeom prst="rect">
            <a:avLst/>
          </a:prstGeom>
        </p:spPr>
      </p:pic>
      <p:sp>
        <p:nvSpPr>
          <p:cNvPr id="22" name="Text 15"/>
          <p:cNvSpPr/>
          <p:nvPr/>
        </p:nvSpPr>
        <p:spPr>
          <a:xfrm>
            <a:off x="713780" y="6778823"/>
            <a:ext cx="1961674" cy="245269"/>
          </a:xfrm>
          <a:prstGeom prst="rect">
            <a:avLst/>
          </a:prstGeom>
          <a:noFill/>
        </p:spPr>
        <p:txBody>
          <a:bodyPr wrap="none" lIns="0" tIns="0" rIns="0" bIns="0" rtlCol="0" anchor="t"/>
          <a:lstStyle/>
          <a:p>
            <a:pPr marL="0" indent="0" algn="l">
              <a:lnSpc>
                <a:spcPts val="1900"/>
              </a:lnSpc>
              <a:buNone/>
            </a:pPr>
            <a:r>
              <a:rPr lang="en-US" sz="1500" dirty="0">
                <a:solidFill>
                  <a:srgbClr val="000000"/>
                </a:solidFill>
                <a:latin typeface="Playfair Display Semi Bold" pitchFamily="34" charset="0"/>
                <a:ea typeface="Playfair Display Semi Bold" pitchFamily="34" charset="-122"/>
                <a:cs typeface="Playfair Display Semi Bold" pitchFamily="34" charset="-120"/>
              </a:rPr>
              <a:t>matplotlib/seaborn</a:t>
            </a:r>
            <a:endParaRPr lang="en-US" sz="1500" dirty="0"/>
          </a:p>
        </p:txBody>
      </p:sp>
      <p:sp>
        <p:nvSpPr>
          <p:cNvPr id="23" name="Text 16"/>
          <p:cNvSpPr/>
          <p:nvPr/>
        </p:nvSpPr>
        <p:spPr>
          <a:xfrm>
            <a:off x="713780" y="7089219"/>
            <a:ext cx="7716441" cy="212288"/>
          </a:xfrm>
          <a:prstGeom prst="rect">
            <a:avLst/>
          </a:prstGeom>
          <a:noFill/>
        </p:spPr>
        <p:txBody>
          <a:bodyPr wrap="none" lIns="0" tIns="0" rIns="0" bIns="0" rtlCol="0" anchor="t"/>
          <a:lstStyle/>
          <a:p>
            <a:pPr marL="0" indent="0" algn="l">
              <a:lnSpc>
                <a:spcPts val="1650"/>
              </a:lnSpc>
              <a:buNone/>
            </a:pPr>
            <a:r>
              <a:rPr lang="en-US" sz="1200" dirty="0">
                <a:solidFill>
                  <a:srgbClr val="000000"/>
                </a:solidFill>
                <a:latin typeface="Public Sans" pitchFamily="34" charset="0"/>
                <a:ea typeface="Public Sans" pitchFamily="34" charset="-122"/>
                <a:cs typeface="Public Sans" pitchFamily="34" charset="-120"/>
              </a:rPr>
              <a:t>Data visualization and statistical graphics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56" y="589240"/>
            <a:ext cx="7476768" cy="669488"/>
          </a:xfrm>
          <a:prstGeom prst="rect">
            <a:avLst/>
          </a:prstGeom>
          <a:noFill/>
        </p:spPr>
        <p:txBody>
          <a:bodyPr wrap="none" lIns="0" tIns="0" rIns="0" bIns="0" rtlCol="0" anchor="t"/>
          <a:lstStyle/>
          <a:p>
            <a:pPr marL="0" indent="0" algn="l">
              <a:lnSpc>
                <a:spcPts val="5250"/>
              </a:lnSpc>
              <a:buNone/>
            </a:pPr>
            <a:r>
              <a:rPr lang="en-US" sz="4200" dirty="0">
                <a:solidFill>
                  <a:srgbClr val="4B6981"/>
                </a:solidFill>
                <a:latin typeface="Playfair Display Semi Bold" pitchFamily="34" charset="0"/>
                <a:ea typeface="Playfair Display Semi Bold" pitchFamily="34" charset="-122"/>
                <a:cs typeface="Playfair Display Semi Bold" pitchFamily="34" charset="-120"/>
              </a:rPr>
              <a:t>Data Loading &amp; Preprocessing</a:t>
            </a:r>
            <a:endParaRPr lang="en-US" sz="4200" dirty="0"/>
          </a:p>
        </p:txBody>
      </p:sp>
      <p:sp>
        <p:nvSpPr>
          <p:cNvPr id="3" name="Text 1"/>
          <p:cNvSpPr/>
          <p:nvPr/>
        </p:nvSpPr>
        <p:spPr>
          <a:xfrm>
            <a:off x="749856" y="2490430"/>
            <a:ext cx="2678311" cy="334804"/>
          </a:xfrm>
          <a:prstGeom prst="rect">
            <a:avLst/>
          </a:prstGeom>
          <a:noFill/>
        </p:spPr>
        <p:txBody>
          <a:bodyPr wrap="none" lIns="0" tIns="0" rIns="0" bIns="0" rtlCol="0" anchor="t"/>
          <a:lstStyle/>
          <a:p>
            <a:pPr marL="0" indent="0" algn="l">
              <a:lnSpc>
                <a:spcPts val="2600"/>
              </a:lnSpc>
              <a:buNone/>
            </a:pPr>
            <a:r>
              <a:rPr lang="en-US" sz="2100" dirty="0">
                <a:solidFill>
                  <a:srgbClr val="4B6981"/>
                </a:solidFill>
                <a:latin typeface="Playfair Display Semi Bold" pitchFamily="34" charset="0"/>
                <a:ea typeface="Playfair Display Semi Bold" pitchFamily="34" charset="-122"/>
                <a:cs typeface="Playfair Display Semi Bold" pitchFamily="34" charset="-120"/>
              </a:rPr>
              <a:t>Code Implementation</a:t>
            </a:r>
            <a:endParaRPr lang="en-US" sz="2100" dirty="0"/>
          </a:p>
        </p:txBody>
      </p:sp>
      <p:sp>
        <p:nvSpPr>
          <p:cNvPr id="4" name="Shape 2"/>
          <p:cNvSpPr/>
          <p:nvPr/>
        </p:nvSpPr>
        <p:spPr>
          <a:xfrm>
            <a:off x="749856" y="3052882"/>
            <a:ext cx="8351996" cy="1654731"/>
          </a:xfrm>
          <a:prstGeom prst="roundRect">
            <a:avLst>
              <a:gd name="adj" fmla="val 5439"/>
            </a:avLst>
          </a:prstGeom>
          <a:solidFill>
            <a:srgbClr val="F2EDE9"/>
          </a:solidFill>
        </p:spPr>
      </p:sp>
      <p:sp>
        <p:nvSpPr>
          <p:cNvPr id="5" name="Shape 3"/>
          <p:cNvSpPr/>
          <p:nvPr/>
        </p:nvSpPr>
        <p:spPr>
          <a:xfrm>
            <a:off x="739259" y="3052882"/>
            <a:ext cx="8373189" cy="1654731"/>
          </a:xfrm>
          <a:prstGeom prst="roundRect">
            <a:avLst>
              <a:gd name="adj" fmla="val 1942"/>
            </a:avLst>
          </a:prstGeom>
          <a:solidFill>
            <a:srgbClr val="F2EDE9"/>
          </a:solidFill>
        </p:spPr>
      </p:sp>
      <p:sp>
        <p:nvSpPr>
          <p:cNvPr id="6" name="Text 4"/>
          <p:cNvSpPr/>
          <p:nvPr/>
        </p:nvSpPr>
        <p:spPr>
          <a:xfrm>
            <a:off x="953453" y="3213497"/>
            <a:ext cx="7944802" cy="1333500"/>
          </a:xfrm>
          <a:prstGeom prst="rect">
            <a:avLst/>
          </a:prstGeom>
          <a:noFill/>
        </p:spPr>
        <p:txBody>
          <a:bodyPr wrap="square" lIns="0" tIns="0" rIns="0" bIns="0" rtlCol="0" anchor="t"/>
          <a:lstStyle/>
          <a:p>
            <a:pPr marL="0" indent="0" algn="l">
              <a:lnSpc>
                <a:spcPts val="2600"/>
              </a:lnSpc>
              <a:buNone/>
            </a:pPr>
            <a:r>
              <a:rPr lang="en-US" sz="1650" dirty="0">
                <a:solidFill>
                  <a:srgbClr val="6F655D"/>
                </a:solidFill>
                <a:highlight>
                  <a:srgbClr val="F2EDE9"/>
                </a:highlight>
                <a:latin typeface="Consolas" panose="020B0609020204030204" pitchFamily="34" charset="0"/>
                <a:ea typeface="Consolas" panose="020B0609020204030204" pitchFamily="34" charset="-122"/>
                <a:cs typeface="Consolas" panose="020B0609020204030204" pitchFamily="34" charset="-120"/>
              </a:rPr>
              <a:t>df = pd.read_csv('salary_prediction_data.csv')
print(df.head())
print(df.info())
</a:t>
            </a:r>
            <a:endParaRPr lang="en-US" sz="1650" dirty="0"/>
          </a:p>
        </p:txBody>
      </p:sp>
      <p:sp>
        <p:nvSpPr>
          <p:cNvPr id="7" name="Text 5"/>
          <p:cNvSpPr/>
          <p:nvPr/>
        </p:nvSpPr>
        <p:spPr>
          <a:xfrm>
            <a:off x="749856" y="4935260"/>
            <a:ext cx="8351996" cy="1000125"/>
          </a:xfrm>
          <a:prstGeom prst="rect">
            <a:avLst/>
          </a:prstGeom>
          <a:noFill/>
        </p:spPr>
        <p:txBody>
          <a:bodyPr wrap="square" lIns="0" tIns="0" rIns="0" bIns="0" rtlCol="0" anchor="t"/>
          <a:lstStyle/>
          <a:p>
            <a:pPr marL="0" indent="0" algn="l">
              <a:lnSpc>
                <a:spcPts val="2600"/>
              </a:lnSpc>
              <a:buNone/>
            </a:pPr>
            <a:r>
              <a:rPr lang="en-US" sz="1650" dirty="0">
                <a:solidFill>
                  <a:srgbClr val="6F655D"/>
                </a:solidFill>
                <a:latin typeface="Public Sans" pitchFamily="34" charset="0"/>
                <a:ea typeface="Public Sans" pitchFamily="34" charset="-122"/>
                <a:cs typeface="Public Sans" pitchFamily="34" charset="-120"/>
              </a:rPr>
              <a:t>The dataset is loaded from a CSV file using pandas. The preprocessing stage involves handling missing values, removing duplicates, and identifying data types for each column.</a:t>
            </a:r>
            <a:endParaRPr lang="en-US" sz="1650" dirty="0"/>
          </a:p>
        </p:txBody>
      </p:sp>
      <p:sp>
        <p:nvSpPr>
          <p:cNvPr id="8" name="Text 6"/>
          <p:cNvSpPr/>
          <p:nvPr/>
        </p:nvSpPr>
        <p:spPr>
          <a:xfrm>
            <a:off x="749856" y="6117550"/>
            <a:ext cx="8351996" cy="666750"/>
          </a:xfrm>
          <a:prstGeom prst="rect">
            <a:avLst/>
          </a:prstGeom>
          <a:noFill/>
        </p:spPr>
        <p:txBody>
          <a:bodyPr wrap="square" lIns="0" tIns="0" rIns="0" bIns="0" rtlCol="0" anchor="t"/>
          <a:lstStyle/>
          <a:p>
            <a:pPr marL="0" indent="0" algn="l">
              <a:lnSpc>
                <a:spcPts val="2600"/>
              </a:lnSpc>
              <a:buNone/>
            </a:pPr>
            <a:r>
              <a:rPr lang="en-US" sz="1650" dirty="0">
                <a:solidFill>
                  <a:srgbClr val="6F655D"/>
                </a:solidFill>
                <a:latin typeface="Public Sans" pitchFamily="34" charset="0"/>
                <a:ea typeface="Public Sans" pitchFamily="34" charset="-122"/>
                <a:cs typeface="Public Sans" pitchFamily="34" charset="-120"/>
              </a:rPr>
              <a:t>Categorical variables (Education, Location, Job_Title) require encoding, while numerical features (Age, Experience) need scaling for optimal model performance.</a:t>
            </a:r>
            <a:endParaRPr lang="en-US" sz="1650" dirty="0"/>
          </a:p>
        </p:txBody>
      </p:sp>
      <p:pic>
        <p:nvPicPr>
          <p:cNvPr id="9" name="Image 0" descr="preencoded.png"/>
          <p:cNvPicPr>
            <a:picLocks noChangeAspect="1"/>
          </p:cNvPicPr>
          <p:nvPr/>
        </p:nvPicPr>
        <p:blipFill>
          <a:blip r:embed="rId1"/>
          <a:stretch>
            <a:fillRect/>
          </a:stretch>
        </p:blipFill>
        <p:spPr>
          <a:xfrm>
            <a:off x="9632156" y="1789986"/>
            <a:ext cx="4255889" cy="56745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73304" y="1284208"/>
            <a:ext cx="4088249" cy="511016"/>
          </a:xfrm>
          <a:prstGeom prst="rect">
            <a:avLst/>
          </a:prstGeom>
          <a:noFill/>
        </p:spPr>
        <p:txBody>
          <a:bodyPr wrap="none" lIns="0" tIns="0" rIns="0" bIns="0" rtlCol="0" anchor="t"/>
          <a:lstStyle/>
          <a:p>
            <a:pPr marL="0" indent="0" algn="l">
              <a:lnSpc>
                <a:spcPts val="4000"/>
              </a:lnSpc>
              <a:buNone/>
            </a:pPr>
            <a:r>
              <a:rPr lang="en-US" sz="3200" dirty="0">
                <a:solidFill>
                  <a:srgbClr val="4B6981"/>
                </a:solidFill>
                <a:latin typeface="Playfair Display Semi Bold" pitchFamily="34" charset="0"/>
                <a:ea typeface="Playfair Display Semi Bold" pitchFamily="34" charset="-122"/>
                <a:cs typeface="Playfair Display Semi Bold" pitchFamily="34" charset="-120"/>
              </a:rPr>
              <a:t>Feature Engineering</a:t>
            </a:r>
            <a:endParaRPr lang="en-US" sz="3200" dirty="0"/>
          </a:p>
        </p:txBody>
      </p:sp>
      <p:pic>
        <p:nvPicPr>
          <p:cNvPr id="3" name="Image 0" descr="preencoded.png"/>
          <p:cNvPicPr>
            <a:picLocks noChangeAspect="1"/>
          </p:cNvPicPr>
          <p:nvPr/>
        </p:nvPicPr>
        <p:blipFill>
          <a:blip r:embed="rId1"/>
          <a:stretch>
            <a:fillRect/>
          </a:stretch>
        </p:blipFill>
        <p:spPr>
          <a:xfrm>
            <a:off x="1673304" y="2450902"/>
            <a:ext cx="7194828" cy="4015621"/>
          </a:xfrm>
          <a:prstGeom prst="rect">
            <a:avLst/>
          </a:prstGeom>
        </p:spPr>
      </p:pic>
      <p:sp>
        <p:nvSpPr>
          <p:cNvPr id="4" name="Text 1"/>
          <p:cNvSpPr/>
          <p:nvPr/>
        </p:nvSpPr>
        <p:spPr>
          <a:xfrm>
            <a:off x="9274612" y="2089904"/>
            <a:ext cx="3689985" cy="511016"/>
          </a:xfrm>
          <a:prstGeom prst="rect">
            <a:avLst/>
          </a:prstGeom>
          <a:noFill/>
        </p:spPr>
        <p:txBody>
          <a:bodyPr wrap="square" lIns="0" tIns="0" rIns="0" bIns="0" rtlCol="0" anchor="t"/>
          <a:lstStyle/>
          <a:p>
            <a:pPr marL="0" indent="0" algn="l">
              <a:lnSpc>
                <a:spcPts val="2000"/>
              </a:lnSpc>
              <a:buNone/>
            </a:pPr>
            <a:r>
              <a:rPr lang="en-US" sz="1600" dirty="0">
                <a:solidFill>
                  <a:srgbClr val="4B6981"/>
                </a:solidFill>
                <a:latin typeface="Playfair Display Semi Bold" pitchFamily="34" charset="0"/>
                <a:ea typeface="Playfair Display Semi Bold" pitchFamily="34" charset="-122"/>
                <a:cs typeface="Playfair Display Semi Bold" pitchFamily="34" charset="-120"/>
              </a:rPr>
              <a:t>ColumnTransformer &amp; OneHotEncoder</a:t>
            </a:r>
            <a:endParaRPr lang="en-US" sz="1600" dirty="0"/>
          </a:p>
        </p:txBody>
      </p:sp>
      <p:sp>
        <p:nvSpPr>
          <p:cNvPr id="5" name="Text 2"/>
          <p:cNvSpPr/>
          <p:nvPr/>
        </p:nvSpPr>
        <p:spPr>
          <a:xfrm>
            <a:off x="9274612" y="2718792"/>
            <a:ext cx="3689985" cy="908209"/>
          </a:xfrm>
          <a:prstGeom prst="rect">
            <a:avLst/>
          </a:prstGeom>
          <a:noFill/>
        </p:spPr>
        <p:txBody>
          <a:bodyPr wrap="square" lIns="0" tIns="0" rIns="0" bIns="0" rtlCol="0" anchor="t"/>
          <a:lstStyle/>
          <a:p>
            <a:pPr marL="0" indent="0" algn="l">
              <a:lnSpc>
                <a:spcPts val="1750"/>
              </a:lnSpc>
              <a:buNone/>
            </a:pPr>
            <a:r>
              <a:rPr lang="en-US" sz="1250" dirty="0">
                <a:solidFill>
                  <a:srgbClr val="6F655D"/>
                </a:solidFill>
                <a:latin typeface="Public Sans" pitchFamily="34" charset="0"/>
                <a:ea typeface="Public Sans" pitchFamily="34" charset="-122"/>
                <a:cs typeface="Public Sans" pitchFamily="34" charset="-120"/>
              </a:rPr>
              <a:t>Text data must be converted into numerical format for machine learning algorithms. </a:t>
            </a:r>
            <a:r>
              <a:rPr lang="en-US" sz="1250" dirty="0">
                <a:solidFill>
                  <a:srgbClr val="6F655D"/>
                </a:solidFill>
                <a:highlight>
                  <a:srgbClr val="F2EDE9"/>
                </a:highlight>
                <a:latin typeface="Consolas" panose="020B0609020204030204" pitchFamily="34" charset="0"/>
                <a:ea typeface="Consolas" panose="020B0609020204030204" pitchFamily="34" charset="-122"/>
                <a:cs typeface="Consolas" panose="020B0609020204030204" pitchFamily="34" charset="-120"/>
              </a:rPr>
              <a:t>ColumnTransformer</a:t>
            </a:r>
            <a:r>
              <a:rPr lang="en-US" sz="1250" dirty="0">
                <a:solidFill>
                  <a:srgbClr val="6F655D"/>
                </a:solidFill>
                <a:latin typeface="Public Sans" pitchFamily="34" charset="0"/>
                <a:ea typeface="Public Sans" pitchFamily="34" charset="-122"/>
                <a:cs typeface="Public Sans" pitchFamily="34" charset="-120"/>
              </a:rPr>
              <a:t> applies different transformations to different columns efficiently.</a:t>
            </a:r>
            <a:endParaRPr lang="en-US" sz="1250" dirty="0"/>
          </a:p>
        </p:txBody>
      </p:sp>
      <p:sp>
        <p:nvSpPr>
          <p:cNvPr id="6" name="Shape 3"/>
          <p:cNvSpPr/>
          <p:nvPr/>
        </p:nvSpPr>
        <p:spPr>
          <a:xfrm>
            <a:off x="9274612" y="3759637"/>
            <a:ext cx="3689985" cy="2271593"/>
          </a:xfrm>
          <a:prstGeom prst="roundRect">
            <a:avLst>
              <a:gd name="adj" fmla="val 3024"/>
            </a:avLst>
          </a:prstGeom>
          <a:solidFill>
            <a:srgbClr val="F2EDE9"/>
          </a:solidFill>
        </p:spPr>
      </p:sp>
      <p:sp>
        <p:nvSpPr>
          <p:cNvPr id="7" name="Shape 4"/>
          <p:cNvSpPr/>
          <p:nvPr/>
        </p:nvSpPr>
        <p:spPr>
          <a:xfrm>
            <a:off x="9266515" y="3759637"/>
            <a:ext cx="3706177" cy="2271593"/>
          </a:xfrm>
          <a:prstGeom prst="roundRect">
            <a:avLst>
              <a:gd name="adj" fmla="val 1080"/>
            </a:avLst>
          </a:prstGeom>
          <a:solidFill>
            <a:srgbClr val="F2EDE9"/>
          </a:solidFill>
        </p:spPr>
      </p:sp>
      <p:sp>
        <p:nvSpPr>
          <p:cNvPr id="8" name="Text 5"/>
          <p:cNvSpPr/>
          <p:nvPr/>
        </p:nvSpPr>
        <p:spPr>
          <a:xfrm>
            <a:off x="9429988" y="3882271"/>
            <a:ext cx="3379232" cy="2026325"/>
          </a:xfrm>
          <a:prstGeom prst="rect">
            <a:avLst/>
          </a:prstGeom>
          <a:noFill/>
        </p:spPr>
        <p:txBody>
          <a:bodyPr wrap="square" lIns="0" tIns="0" rIns="0" bIns="0" rtlCol="0" anchor="t"/>
          <a:lstStyle/>
          <a:p>
            <a:pPr marL="0" indent="0" algn="l">
              <a:lnSpc>
                <a:spcPts val="1750"/>
              </a:lnSpc>
              <a:buNone/>
            </a:pPr>
            <a:r>
              <a:rPr lang="en-US" sz="1250" dirty="0">
                <a:solidFill>
                  <a:srgbClr val="6F655D"/>
                </a:solidFill>
                <a:highlight>
                  <a:srgbClr val="F2EDE9"/>
                </a:highlight>
                <a:latin typeface="Consolas" panose="020B0609020204030204" pitchFamily="34" charset="0"/>
                <a:ea typeface="Consolas" panose="020B0609020204030204" pitchFamily="34" charset="-122"/>
                <a:cs typeface="Consolas" panose="020B0609020204030204" pitchFamily="34" charset="-120"/>
              </a:rPr>
              <a:t>preprocessor = ColumnTransformer(
    transformers=[
        ('num', StandardScaler(), 
         ['Age', 'Experience']),
        ('cat', OneHotEncoder(), 
         ['Education', 'Location', 
          'Job_Title', 'Gender'])
    ])
</a:t>
            </a:r>
            <a:endParaRPr lang="en-US" sz="1250" dirty="0"/>
          </a:p>
        </p:txBody>
      </p:sp>
      <p:sp>
        <p:nvSpPr>
          <p:cNvPr id="9" name="Text 6"/>
          <p:cNvSpPr/>
          <p:nvPr/>
        </p:nvSpPr>
        <p:spPr>
          <a:xfrm>
            <a:off x="9274612" y="6163866"/>
            <a:ext cx="3689985" cy="675442"/>
          </a:xfrm>
          <a:prstGeom prst="rect">
            <a:avLst/>
          </a:prstGeom>
          <a:noFill/>
        </p:spPr>
        <p:txBody>
          <a:bodyPr wrap="square" lIns="0" tIns="0" rIns="0" bIns="0" rtlCol="0" anchor="t"/>
          <a:lstStyle/>
          <a:p>
            <a:pPr marL="0" indent="0" algn="l">
              <a:lnSpc>
                <a:spcPts val="1750"/>
              </a:lnSpc>
              <a:buNone/>
            </a:pPr>
            <a:r>
              <a:rPr lang="en-US" sz="1250" dirty="0">
                <a:solidFill>
                  <a:srgbClr val="6F655D"/>
                </a:solidFill>
                <a:latin typeface="Public Sans" pitchFamily="34" charset="0"/>
                <a:ea typeface="Public Sans" pitchFamily="34" charset="-122"/>
                <a:cs typeface="Public Sans" pitchFamily="34" charset="-120"/>
              </a:rPr>
              <a:t>This approach handles both numerical and categorical data simultaneously, creating a machine-readable feature matrix.</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595360" y="0"/>
            <a:ext cx="6035040" cy="8229600"/>
          </a:xfrm>
          <a:prstGeom prst="rect">
            <a:avLst/>
          </a:prstGeom>
        </p:spPr>
      </p:pic>
      <p:sp>
        <p:nvSpPr>
          <p:cNvPr id="3" name="Text 0"/>
          <p:cNvSpPr/>
          <p:nvPr/>
        </p:nvSpPr>
        <p:spPr>
          <a:xfrm>
            <a:off x="599480" y="895231"/>
            <a:ext cx="4282678" cy="535305"/>
          </a:xfrm>
          <a:prstGeom prst="rect">
            <a:avLst/>
          </a:prstGeom>
          <a:noFill/>
        </p:spPr>
        <p:txBody>
          <a:bodyPr wrap="none" lIns="0" tIns="0" rIns="0" bIns="0" rtlCol="0" anchor="t"/>
          <a:lstStyle/>
          <a:p>
            <a:pPr marL="0" indent="0" algn="l">
              <a:lnSpc>
                <a:spcPts val="4200"/>
              </a:lnSpc>
              <a:buNone/>
            </a:pPr>
            <a:r>
              <a:rPr lang="en-US" sz="3350" dirty="0">
                <a:solidFill>
                  <a:srgbClr val="4B6981"/>
                </a:solidFill>
                <a:latin typeface="Playfair Display Semi Bold" pitchFamily="34" charset="0"/>
                <a:ea typeface="Playfair Display Semi Bold" pitchFamily="34" charset="-122"/>
                <a:cs typeface="Playfair Display Semi Bold" pitchFamily="34" charset="-120"/>
              </a:rPr>
              <a:t>Feature Scaling</a:t>
            </a:r>
            <a:endParaRPr lang="en-US" sz="3350" dirty="0"/>
          </a:p>
        </p:txBody>
      </p:sp>
      <p:sp>
        <p:nvSpPr>
          <p:cNvPr id="4" name="Text 1"/>
          <p:cNvSpPr/>
          <p:nvPr/>
        </p:nvSpPr>
        <p:spPr>
          <a:xfrm>
            <a:off x="599480" y="1624608"/>
            <a:ext cx="171212" cy="214074"/>
          </a:xfrm>
          <a:prstGeom prst="rect">
            <a:avLst/>
          </a:prstGeom>
          <a:noFill/>
        </p:spPr>
        <p:txBody>
          <a:bodyPr wrap="none" lIns="0" tIns="0" rIns="0" bIns="0" rtlCol="0" anchor="t"/>
          <a:lstStyle/>
          <a:p>
            <a:pPr marL="0" indent="0" algn="l">
              <a:lnSpc>
                <a:spcPts val="1850"/>
              </a:lnSpc>
              <a:buNone/>
            </a:pPr>
            <a:r>
              <a:rPr lang="en-US" sz="1300" dirty="0">
                <a:solidFill>
                  <a:srgbClr val="6F655D"/>
                </a:solidFill>
                <a:latin typeface="Playfair Display Light" pitchFamily="34" charset="0"/>
                <a:ea typeface="Playfair Display Light" pitchFamily="34" charset="-122"/>
                <a:cs typeface="Playfair Display Light" pitchFamily="34" charset="-120"/>
              </a:rPr>
              <a:t>01</a:t>
            </a:r>
            <a:endParaRPr lang="en-US" sz="1300" dirty="0"/>
          </a:p>
        </p:txBody>
      </p:sp>
      <p:sp>
        <p:nvSpPr>
          <p:cNvPr id="5" name="Shape 2"/>
          <p:cNvSpPr/>
          <p:nvPr/>
        </p:nvSpPr>
        <p:spPr>
          <a:xfrm>
            <a:off x="599480" y="1892737"/>
            <a:ext cx="7945041" cy="22860"/>
          </a:xfrm>
          <a:prstGeom prst="rect">
            <a:avLst/>
          </a:prstGeom>
          <a:solidFill>
            <a:srgbClr val="E1C2C2"/>
          </a:solidFill>
        </p:spPr>
      </p:sp>
      <p:sp>
        <p:nvSpPr>
          <p:cNvPr id="6" name="Text 3"/>
          <p:cNvSpPr/>
          <p:nvPr/>
        </p:nvSpPr>
        <p:spPr>
          <a:xfrm>
            <a:off x="599480" y="2024063"/>
            <a:ext cx="2722602" cy="267653"/>
          </a:xfrm>
          <a:prstGeom prst="rect">
            <a:avLst/>
          </a:prstGeom>
          <a:noFill/>
        </p:spPr>
        <p:txBody>
          <a:bodyPr wrap="none" lIns="0" tIns="0" rIns="0" bIns="0" rtlCol="0" anchor="t"/>
          <a:lstStyle/>
          <a:p>
            <a:pPr marL="0" indent="0" algn="l">
              <a:lnSpc>
                <a:spcPts val="2100"/>
              </a:lnSpc>
              <a:buNone/>
            </a:pPr>
            <a:r>
              <a:rPr lang="en-US" sz="1650" dirty="0">
                <a:solidFill>
                  <a:srgbClr val="6F655D"/>
                </a:solidFill>
                <a:latin typeface="Playfair Display Semi Bold" pitchFamily="34" charset="0"/>
                <a:ea typeface="Playfair Display Semi Bold" pitchFamily="34" charset="-122"/>
                <a:cs typeface="Playfair Display Semi Bold" pitchFamily="34" charset="-120"/>
              </a:rPr>
              <a:t>Identify Numerical Features</a:t>
            </a:r>
            <a:endParaRPr lang="en-US" sz="1650" dirty="0"/>
          </a:p>
        </p:txBody>
      </p:sp>
      <p:sp>
        <p:nvSpPr>
          <p:cNvPr id="7" name="Text 4"/>
          <p:cNvSpPr/>
          <p:nvPr/>
        </p:nvSpPr>
        <p:spPr>
          <a:xfrm>
            <a:off x="599480" y="2369344"/>
            <a:ext cx="7945041" cy="240506"/>
          </a:xfrm>
          <a:prstGeom prst="rect">
            <a:avLst/>
          </a:prstGeom>
          <a:noFill/>
        </p:spPr>
        <p:txBody>
          <a:bodyPr wrap="none" lIns="0" tIns="0" rIns="0" bIns="0" rtlCol="0" anchor="t"/>
          <a:lstStyle/>
          <a:p>
            <a:pPr marL="0" indent="0" algn="l">
              <a:lnSpc>
                <a:spcPts val="1850"/>
              </a:lnSpc>
              <a:buNone/>
            </a:pPr>
            <a:r>
              <a:rPr lang="en-US" sz="1300" dirty="0">
                <a:solidFill>
                  <a:srgbClr val="6F655D"/>
                </a:solidFill>
                <a:latin typeface="Public Sans" pitchFamily="34" charset="0"/>
                <a:ea typeface="Public Sans" pitchFamily="34" charset="-122"/>
                <a:cs typeface="Public Sans" pitchFamily="34" charset="-120"/>
              </a:rPr>
              <a:t>Age and Experience columns selected</a:t>
            </a:r>
            <a:endParaRPr lang="en-US" sz="1300" dirty="0"/>
          </a:p>
        </p:txBody>
      </p:sp>
      <p:sp>
        <p:nvSpPr>
          <p:cNvPr id="8" name="Text 5"/>
          <p:cNvSpPr/>
          <p:nvPr/>
        </p:nvSpPr>
        <p:spPr>
          <a:xfrm>
            <a:off x="599480" y="2867620"/>
            <a:ext cx="171212" cy="214074"/>
          </a:xfrm>
          <a:prstGeom prst="rect">
            <a:avLst/>
          </a:prstGeom>
          <a:noFill/>
        </p:spPr>
        <p:txBody>
          <a:bodyPr wrap="none" lIns="0" tIns="0" rIns="0" bIns="0" rtlCol="0" anchor="t"/>
          <a:lstStyle/>
          <a:p>
            <a:pPr marL="0" indent="0" algn="l">
              <a:lnSpc>
                <a:spcPts val="1850"/>
              </a:lnSpc>
              <a:buNone/>
            </a:pPr>
            <a:r>
              <a:rPr lang="en-US" sz="1300" dirty="0">
                <a:solidFill>
                  <a:srgbClr val="6F655D"/>
                </a:solidFill>
                <a:latin typeface="Playfair Display Light" pitchFamily="34" charset="0"/>
                <a:ea typeface="Playfair Display Light" pitchFamily="34" charset="-122"/>
                <a:cs typeface="Playfair Display Light" pitchFamily="34" charset="-120"/>
              </a:rPr>
              <a:t>02</a:t>
            </a:r>
            <a:endParaRPr lang="en-US" sz="1300" dirty="0"/>
          </a:p>
        </p:txBody>
      </p:sp>
      <p:sp>
        <p:nvSpPr>
          <p:cNvPr id="9" name="Shape 6"/>
          <p:cNvSpPr/>
          <p:nvPr/>
        </p:nvSpPr>
        <p:spPr>
          <a:xfrm>
            <a:off x="599480" y="3135749"/>
            <a:ext cx="7945041" cy="22860"/>
          </a:xfrm>
          <a:prstGeom prst="rect">
            <a:avLst/>
          </a:prstGeom>
          <a:solidFill>
            <a:srgbClr val="CCC4EC"/>
          </a:solidFill>
        </p:spPr>
      </p:sp>
      <p:sp>
        <p:nvSpPr>
          <p:cNvPr id="10" name="Text 7"/>
          <p:cNvSpPr/>
          <p:nvPr/>
        </p:nvSpPr>
        <p:spPr>
          <a:xfrm>
            <a:off x="599480" y="3267075"/>
            <a:ext cx="2141339" cy="267653"/>
          </a:xfrm>
          <a:prstGeom prst="rect">
            <a:avLst/>
          </a:prstGeom>
          <a:noFill/>
        </p:spPr>
        <p:txBody>
          <a:bodyPr wrap="none" lIns="0" tIns="0" rIns="0" bIns="0" rtlCol="0" anchor="t"/>
          <a:lstStyle/>
          <a:p>
            <a:pPr marL="0" indent="0" algn="l">
              <a:lnSpc>
                <a:spcPts val="2100"/>
              </a:lnSpc>
              <a:buNone/>
            </a:pPr>
            <a:r>
              <a:rPr lang="en-US" sz="1650" dirty="0">
                <a:solidFill>
                  <a:srgbClr val="6F655D"/>
                </a:solidFill>
                <a:latin typeface="Playfair Display Semi Bold" pitchFamily="34" charset="0"/>
                <a:ea typeface="Playfair Display Semi Bold" pitchFamily="34" charset="-122"/>
                <a:cs typeface="Playfair Display Semi Bold" pitchFamily="34" charset="-120"/>
              </a:rPr>
              <a:t>Apply StandardScaler</a:t>
            </a:r>
            <a:endParaRPr lang="en-US" sz="1650" dirty="0"/>
          </a:p>
        </p:txBody>
      </p:sp>
      <p:sp>
        <p:nvSpPr>
          <p:cNvPr id="11" name="Text 8"/>
          <p:cNvSpPr/>
          <p:nvPr/>
        </p:nvSpPr>
        <p:spPr>
          <a:xfrm>
            <a:off x="599480" y="3612356"/>
            <a:ext cx="7945041" cy="240506"/>
          </a:xfrm>
          <a:prstGeom prst="rect">
            <a:avLst/>
          </a:prstGeom>
          <a:noFill/>
        </p:spPr>
        <p:txBody>
          <a:bodyPr wrap="none" lIns="0" tIns="0" rIns="0" bIns="0" rtlCol="0" anchor="t"/>
          <a:lstStyle/>
          <a:p>
            <a:pPr marL="0" indent="0" algn="l">
              <a:lnSpc>
                <a:spcPts val="1850"/>
              </a:lnSpc>
              <a:buNone/>
            </a:pPr>
            <a:r>
              <a:rPr lang="en-US" sz="1300" dirty="0">
                <a:solidFill>
                  <a:srgbClr val="6F655D"/>
                </a:solidFill>
                <a:latin typeface="Public Sans" pitchFamily="34" charset="0"/>
                <a:ea typeface="Public Sans" pitchFamily="34" charset="-122"/>
                <a:cs typeface="Public Sans" pitchFamily="34" charset="-120"/>
              </a:rPr>
              <a:t>Transform to mean=0, std=1</a:t>
            </a:r>
            <a:endParaRPr lang="en-US" sz="1300" dirty="0"/>
          </a:p>
        </p:txBody>
      </p:sp>
      <p:sp>
        <p:nvSpPr>
          <p:cNvPr id="12" name="Text 9"/>
          <p:cNvSpPr/>
          <p:nvPr/>
        </p:nvSpPr>
        <p:spPr>
          <a:xfrm>
            <a:off x="599480" y="4110633"/>
            <a:ext cx="171212" cy="214074"/>
          </a:xfrm>
          <a:prstGeom prst="rect">
            <a:avLst/>
          </a:prstGeom>
          <a:noFill/>
        </p:spPr>
        <p:txBody>
          <a:bodyPr wrap="none" lIns="0" tIns="0" rIns="0" bIns="0" rtlCol="0" anchor="t"/>
          <a:lstStyle/>
          <a:p>
            <a:pPr marL="0" indent="0" algn="l">
              <a:lnSpc>
                <a:spcPts val="1850"/>
              </a:lnSpc>
              <a:buNone/>
            </a:pPr>
            <a:r>
              <a:rPr lang="en-US" sz="1300" dirty="0">
                <a:solidFill>
                  <a:srgbClr val="6F655D"/>
                </a:solidFill>
                <a:latin typeface="Playfair Display Light" pitchFamily="34" charset="0"/>
                <a:ea typeface="Playfair Display Light" pitchFamily="34" charset="-122"/>
                <a:cs typeface="Playfair Display Light" pitchFamily="34" charset="-120"/>
              </a:rPr>
              <a:t>03</a:t>
            </a:r>
            <a:endParaRPr lang="en-US" sz="1300" dirty="0"/>
          </a:p>
        </p:txBody>
      </p:sp>
      <p:sp>
        <p:nvSpPr>
          <p:cNvPr id="13" name="Shape 10"/>
          <p:cNvSpPr/>
          <p:nvPr/>
        </p:nvSpPr>
        <p:spPr>
          <a:xfrm>
            <a:off x="599480" y="4378762"/>
            <a:ext cx="7945041" cy="22860"/>
          </a:xfrm>
          <a:prstGeom prst="rect">
            <a:avLst/>
          </a:prstGeom>
          <a:solidFill>
            <a:srgbClr val="B4DAE4"/>
          </a:solidFill>
        </p:spPr>
      </p:sp>
      <p:sp>
        <p:nvSpPr>
          <p:cNvPr id="14" name="Text 11"/>
          <p:cNvSpPr/>
          <p:nvPr/>
        </p:nvSpPr>
        <p:spPr>
          <a:xfrm>
            <a:off x="599480" y="4510088"/>
            <a:ext cx="2141339" cy="267653"/>
          </a:xfrm>
          <a:prstGeom prst="rect">
            <a:avLst/>
          </a:prstGeom>
          <a:noFill/>
        </p:spPr>
        <p:txBody>
          <a:bodyPr wrap="none" lIns="0" tIns="0" rIns="0" bIns="0" rtlCol="0" anchor="t"/>
          <a:lstStyle/>
          <a:p>
            <a:pPr marL="0" indent="0" algn="l">
              <a:lnSpc>
                <a:spcPts val="2100"/>
              </a:lnSpc>
              <a:buNone/>
            </a:pPr>
            <a:r>
              <a:rPr lang="en-US" sz="1650" dirty="0">
                <a:solidFill>
                  <a:srgbClr val="6F655D"/>
                </a:solidFill>
                <a:latin typeface="Playfair Display Semi Bold" pitchFamily="34" charset="0"/>
                <a:ea typeface="Playfair Display Semi Bold" pitchFamily="34" charset="-122"/>
                <a:cs typeface="Playfair Display Semi Bold" pitchFamily="34" charset="-120"/>
              </a:rPr>
              <a:t>Normalize Data</a:t>
            </a:r>
            <a:endParaRPr lang="en-US" sz="1650" dirty="0"/>
          </a:p>
        </p:txBody>
      </p:sp>
      <p:sp>
        <p:nvSpPr>
          <p:cNvPr id="15" name="Text 12"/>
          <p:cNvSpPr/>
          <p:nvPr/>
        </p:nvSpPr>
        <p:spPr>
          <a:xfrm>
            <a:off x="599480" y="4855369"/>
            <a:ext cx="7945041" cy="240506"/>
          </a:xfrm>
          <a:prstGeom prst="rect">
            <a:avLst/>
          </a:prstGeom>
          <a:noFill/>
        </p:spPr>
        <p:txBody>
          <a:bodyPr wrap="none" lIns="0" tIns="0" rIns="0" bIns="0" rtlCol="0" anchor="t"/>
          <a:lstStyle/>
          <a:p>
            <a:pPr marL="0" indent="0" algn="l">
              <a:lnSpc>
                <a:spcPts val="1850"/>
              </a:lnSpc>
              <a:buNone/>
            </a:pPr>
            <a:r>
              <a:rPr lang="en-US" sz="1300" dirty="0">
                <a:solidFill>
                  <a:srgbClr val="6F655D"/>
                </a:solidFill>
                <a:latin typeface="Public Sans" pitchFamily="34" charset="0"/>
                <a:ea typeface="Public Sans" pitchFamily="34" charset="-122"/>
                <a:cs typeface="Public Sans" pitchFamily="34" charset="-120"/>
              </a:rPr>
              <a:t>Ensure uniform scale across features</a:t>
            </a:r>
            <a:endParaRPr lang="en-US" sz="1300" dirty="0"/>
          </a:p>
        </p:txBody>
      </p:sp>
      <p:sp>
        <p:nvSpPr>
          <p:cNvPr id="16" name="Text 13"/>
          <p:cNvSpPr/>
          <p:nvPr/>
        </p:nvSpPr>
        <p:spPr>
          <a:xfrm>
            <a:off x="599480" y="5353645"/>
            <a:ext cx="171212" cy="214074"/>
          </a:xfrm>
          <a:prstGeom prst="rect">
            <a:avLst/>
          </a:prstGeom>
          <a:noFill/>
        </p:spPr>
        <p:txBody>
          <a:bodyPr wrap="none" lIns="0" tIns="0" rIns="0" bIns="0" rtlCol="0" anchor="t"/>
          <a:lstStyle/>
          <a:p>
            <a:pPr marL="0" indent="0" algn="l">
              <a:lnSpc>
                <a:spcPts val="1850"/>
              </a:lnSpc>
              <a:buNone/>
            </a:pPr>
            <a:r>
              <a:rPr lang="en-US" sz="1300" dirty="0">
                <a:solidFill>
                  <a:srgbClr val="6F655D"/>
                </a:solidFill>
                <a:latin typeface="Playfair Display Light" pitchFamily="34" charset="0"/>
                <a:ea typeface="Playfair Display Light" pitchFamily="34" charset="-122"/>
                <a:cs typeface="Playfair Display Light" pitchFamily="34" charset="-120"/>
              </a:rPr>
              <a:t>04</a:t>
            </a:r>
            <a:endParaRPr lang="en-US" sz="1300" dirty="0"/>
          </a:p>
        </p:txBody>
      </p:sp>
      <p:sp>
        <p:nvSpPr>
          <p:cNvPr id="17" name="Shape 14"/>
          <p:cNvSpPr/>
          <p:nvPr/>
        </p:nvSpPr>
        <p:spPr>
          <a:xfrm>
            <a:off x="599480" y="5621774"/>
            <a:ext cx="7945041" cy="22860"/>
          </a:xfrm>
          <a:prstGeom prst="rect">
            <a:avLst/>
          </a:prstGeom>
          <a:solidFill>
            <a:srgbClr val="E1C2C2"/>
          </a:solidFill>
        </p:spPr>
      </p:sp>
      <p:sp>
        <p:nvSpPr>
          <p:cNvPr id="18" name="Text 15"/>
          <p:cNvSpPr/>
          <p:nvPr/>
        </p:nvSpPr>
        <p:spPr>
          <a:xfrm>
            <a:off x="599480" y="5753100"/>
            <a:ext cx="2780705" cy="267653"/>
          </a:xfrm>
          <a:prstGeom prst="rect">
            <a:avLst/>
          </a:prstGeom>
          <a:noFill/>
        </p:spPr>
        <p:txBody>
          <a:bodyPr wrap="none" lIns="0" tIns="0" rIns="0" bIns="0" rtlCol="0" anchor="t"/>
          <a:lstStyle/>
          <a:p>
            <a:pPr marL="0" indent="0" algn="l">
              <a:lnSpc>
                <a:spcPts val="2100"/>
              </a:lnSpc>
              <a:buNone/>
            </a:pPr>
            <a:r>
              <a:rPr lang="en-US" sz="1650" dirty="0">
                <a:solidFill>
                  <a:srgbClr val="6F655D"/>
                </a:solidFill>
                <a:latin typeface="Playfair Display Semi Bold" pitchFamily="34" charset="0"/>
                <a:ea typeface="Playfair Display Semi Bold" pitchFamily="34" charset="-122"/>
                <a:cs typeface="Playfair Display Semi Bold" pitchFamily="34" charset="-120"/>
              </a:rPr>
              <a:t>Combine with Encoded Data</a:t>
            </a:r>
            <a:endParaRPr lang="en-US" sz="1650" dirty="0"/>
          </a:p>
        </p:txBody>
      </p:sp>
      <p:sp>
        <p:nvSpPr>
          <p:cNvPr id="19" name="Text 16"/>
          <p:cNvSpPr/>
          <p:nvPr/>
        </p:nvSpPr>
        <p:spPr>
          <a:xfrm>
            <a:off x="599480" y="6098381"/>
            <a:ext cx="7945041" cy="240506"/>
          </a:xfrm>
          <a:prstGeom prst="rect">
            <a:avLst/>
          </a:prstGeom>
          <a:noFill/>
        </p:spPr>
        <p:txBody>
          <a:bodyPr wrap="none" lIns="0" tIns="0" rIns="0" bIns="0" rtlCol="0" anchor="t"/>
          <a:lstStyle/>
          <a:p>
            <a:pPr marL="0" indent="0" algn="l">
              <a:lnSpc>
                <a:spcPts val="1850"/>
              </a:lnSpc>
              <a:buNone/>
            </a:pPr>
            <a:r>
              <a:rPr lang="en-US" sz="1300" dirty="0">
                <a:solidFill>
                  <a:srgbClr val="6F655D"/>
                </a:solidFill>
                <a:latin typeface="Public Sans" pitchFamily="34" charset="0"/>
                <a:ea typeface="Public Sans" pitchFamily="34" charset="-122"/>
                <a:cs typeface="Public Sans" pitchFamily="34" charset="-120"/>
              </a:rPr>
              <a:t>Create complete feature matrix</a:t>
            </a:r>
            <a:endParaRPr lang="en-US" sz="1300" dirty="0"/>
          </a:p>
        </p:txBody>
      </p:sp>
      <p:sp>
        <p:nvSpPr>
          <p:cNvPr id="20" name="Text 17"/>
          <p:cNvSpPr/>
          <p:nvPr/>
        </p:nvSpPr>
        <p:spPr>
          <a:xfrm>
            <a:off x="599480" y="6612850"/>
            <a:ext cx="7945041" cy="721519"/>
          </a:xfrm>
          <a:prstGeom prst="rect">
            <a:avLst/>
          </a:prstGeom>
          <a:noFill/>
        </p:spPr>
        <p:txBody>
          <a:bodyPr wrap="square" lIns="0" tIns="0" rIns="0" bIns="0" rtlCol="0" anchor="t"/>
          <a:lstStyle/>
          <a:p>
            <a:pPr marL="0" indent="0" algn="l">
              <a:lnSpc>
                <a:spcPts val="1850"/>
              </a:lnSpc>
              <a:buNone/>
            </a:pPr>
            <a:r>
              <a:rPr lang="en-US" sz="1300" dirty="0">
                <a:solidFill>
                  <a:srgbClr val="6F655D"/>
                </a:solidFill>
                <a:latin typeface="Public Sans" pitchFamily="34" charset="0"/>
                <a:ea typeface="Public Sans" pitchFamily="34" charset="-122"/>
                <a:cs typeface="Public Sans" pitchFamily="34" charset="-120"/>
              </a:rPr>
              <a:t>StandardScaler normalizes numerical columns by removing the mean and scaling to unit variance. This prevents features with larger values from dominating the model and ensures all features contribute equally to predictions.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1514" y="1079183"/>
            <a:ext cx="4868228" cy="608528"/>
          </a:xfrm>
          <a:prstGeom prst="rect">
            <a:avLst/>
          </a:prstGeom>
          <a:noFill/>
        </p:spPr>
        <p:txBody>
          <a:bodyPr wrap="none" lIns="0" tIns="0" rIns="0" bIns="0" rtlCol="0" anchor="t"/>
          <a:lstStyle/>
          <a:p>
            <a:pPr marL="0" indent="0" algn="l">
              <a:lnSpc>
                <a:spcPts val="4750"/>
              </a:lnSpc>
              <a:buNone/>
            </a:pPr>
            <a:r>
              <a:rPr lang="en-US" sz="3800" dirty="0">
                <a:solidFill>
                  <a:srgbClr val="4B6981"/>
                </a:solidFill>
                <a:latin typeface="Playfair Display Semi Bold" pitchFamily="34" charset="0"/>
                <a:ea typeface="Playfair Display Semi Bold" pitchFamily="34" charset="-122"/>
                <a:cs typeface="Playfair Display Semi Bold" pitchFamily="34" charset="-120"/>
              </a:rPr>
              <a:t>Data Splitting</a:t>
            </a:r>
            <a:endParaRPr lang="en-US" sz="3800" dirty="0"/>
          </a:p>
        </p:txBody>
      </p:sp>
      <p:sp>
        <p:nvSpPr>
          <p:cNvPr id="3" name="Text 1"/>
          <p:cNvSpPr/>
          <p:nvPr/>
        </p:nvSpPr>
        <p:spPr>
          <a:xfrm>
            <a:off x="681514" y="2105620"/>
            <a:ext cx="2751773" cy="304205"/>
          </a:xfrm>
          <a:prstGeom prst="rect">
            <a:avLst/>
          </a:prstGeom>
          <a:noFill/>
        </p:spPr>
        <p:txBody>
          <a:bodyPr wrap="none" lIns="0" tIns="0" rIns="0" bIns="0" rtlCol="0" anchor="t"/>
          <a:lstStyle/>
          <a:p>
            <a:pPr marL="0" indent="0" algn="l">
              <a:lnSpc>
                <a:spcPts val="2350"/>
              </a:lnSpc>
              <a:buNone/>
            </a:pPr>
            <a:r>
              <a:rPr lang="en-US" sz="1900" dirty="0">
                <a:solidFill>
                  <a:srgbClr val="4B6981"/>
                </a:solidFill>
                <a:latin typeface="Playfair Display Semi Bold" pitchFamily="34" charset="0"/>
                <a:ea typeface="Playfair Display Semi Bold" pitchFamily="34" charset="-122"/>
                <a:cs typeface="Playfair Display Semi Bold" pitchFamily="34" charset="-120"/>
              </a:rPr>
              <a:t>Train-Test Split Strategy</a:t>
            </a:r>
            <a:endParaRPr lang="en-US" sz="1900" dirty="0"/>
          </a:p>
        </p:txBody>
      </p:sp>
      <p:sp>
        <p:nvSpPr>
          <p:cNvPr id="4" name="Shape 2"/>
          <p:cNvSpPr/>
          <p:nvPr/>
        </p:nvSpPr>
        <p:spPr>
          <a:xfrm>
            <a:off x="681514" y="2597825"/>
            <a:ext cx="4334708" cy="2318861"/>
          </a:xfrm>
          <a:prstGeom prst="roundRect">
            <a:avLst>
              <a:gd name="adj" fmla="val 3527"/>
            </a:avLst>
          </a:prstGeom>
          <a:solidFill>
            <a:srgbClr val="F2EDE9"/>
          </a:solidFill>
        </p:spPr>
      </p:sp>
      <p:sp>
        <p:nvSpPr>
          <p:cNvPr id="5" name="Shape 3"/>
          <p:cNvSpPr/>
          <p:nvPr/>
        </p:nvSpPr>
        <p:spPr>
          <a:xfrm>
            <a:off x="671870" y="2597825"/>
            <a:ext cx="4353997" cy="2318861"/>
          </a:xfrm>
          <a:prstGeom prst="roundRect">
            <a:avLst>
              <a:gd name="adj" fmla="val 1260"/>
            </a:avLst>
          </a:prstGeom>
          <a:solidFill>
            <a:srgbClr val="F2EDE9"/>
          </a:solidFill>
        </p:spPr>
      </p:sp>
      <p:sp>
        <p:nvSpPr>
          <p:cNvPr id="6" name="Text 4"/>
          <p:cNvSpPr/>
          <p:nvPr/>
        </p:nvSpPr>
        <p:spPr>
          <a:xfrm>
            <a:off x="866537" y="2743795"/>
            <a:ext cx="3964662" cy="2026920"/>
          </a:xfrm>
          <a:prstGeom prst="rect">
            <a:avLst/>
          </a:prstGeom>
          <a:noFill/>
        </p:spPr>
        <p:txBody>
          <a:bodyPr wrap="square" lIns="0" tIns="0" rIns="0" bIns="0" rtlCol="0" anchor="t"/>
          <a:lstStyle/>
          <a:p>
            <a:pPr marL="0" indent="0" algn="l">
              <a:lnSpc>
                <a:spcPts val="2250"/>
              </a:lnSpc>
              <a:buNone/>
            </a:pPr>
            <a:r>
              <a:rPr lang="en-US" sz="1500" dirty="0">
                <a:solidFill>
                  <a:srgbClr val="6F655D"/>
                </a:solidFill>
                <a:highlight>
                  <a:srgbClr val="F2EDE9"/>
                </a:highlight>
                <a:latin typeface="Consolas" panose="020B0609020204030204" pitchFamily="34" charset="0"/>
                <a:ea typeface="Consolas" panose="020B0609020204030204" pitchFamily="34" charset="-122"/>
                <a:cs typeface="Consolas" panose="020B0609020204030204" pitchFamily="34" charset="-120"/>
              </a:rPr>
              <a:t>X_train, X_test, y_train, y_test = train_test_split(
    X_processed_df, y, 
    test_size=0.2, 
    random_state=42
)
</a:t>
            </a:r>
            <a:endParaRPr lang="en-US" sz="1500" dirty="0"/>
          </a:p>
        </p:txBody>
      </p:sp>
      <p:sp>
        <p:nvSpPr>
          <p:cNvPr id="7" name="Text 5"/>
          <p:cNvSpPr/>
          <p:nvPr/>
        </p:nvSpPr>
        <p:spPr>
          <a:xfrm>
            <a:off x="681514" y="5104686"/>
            <a:ext cx="4334708" cy="1158240"/>
          </a:xfrm>
          <a:prstGeom prst="rect">
            <a:avLst/>
          </a:prstGeom>
          <a:noFill/>
        </p:spPr>
        <p:txBody>
          <a:bodyPr wrap="square" lIns="0" tIns="0" rIns="0" bIns="0" rtlCol="0" anchor="t"/>
          <a:lstStyle/>
          <a:p>
            <a:pPr marL="0" indent="0" algn="l">
              <a:lnSpc>
                <a:spcPts val="2250"/>
              </a:lnSpc>
              <a:buNone/>
            </a:pPr>
            <a:r>
              <a:rPr lang="en-US" sz="1500" dirty="0">
                <a:solidFill>
                  <a:srgbClr val="6F655D"/>
                </a:solidFill>
                <a:latin typeface="Public Sans" pitchFamily="34" charset="0"/>
                <a:ea typeface="Public Sans" pitchFamily="34" charset="-122"/>
                <a:cs typeface="Public Sans" pitchFamily="34" charset="-120"/>
              </a:rPr>
              <a:t>The dataset is split into </a:t>
            </a:r>
            <a:r>
              <a:rPr lang="en-US" sz="1500" b="1" dirty="0">
                <a:solidFill>
                  <a:srgbClr val="B05B5C"/>
                </a:solidFill>
                <a:latin typeface="Public Sans" pitchFamily="34" charset="0"/>
                <a:ea typeface="Public Sans" pitchFamily="34" charset="-122"/>
                <a:cs typeface="Public Sans" pitchFamily="34" charset="-120"/>
              </a:rPr>
              <a:t>80% training data</a:t>
            </a:r>
            <a:r>
              <a:rPr lang="en-US" sz="1500" dirty="0">
                <a:solidFill>
                  <a:srgbClr val="6F655D"/>
                </a:solidFill>
                <a:latin typeface="Public Sans" pitchFamily="34" charset="0"/>
                <a:ea typeface="Public Sans" pitchFamily="34" charset="-122"/>
                <a:cs typeface="Public Sans" pitchFamily="34" charset="-120"/>
              </a:rPr>
              <a:t> and </a:t>
            </a:r>
            <a:r>
              <a:rPr lang="en-US" sz="1500" b="1" dirty="0">
                <a:solidFill>
                  <a:srgbClr val="B05B5C"/>
                </a:solidFill>
                <a:latin typeface="Public Sans" pitchFamily="34" charset="0"/>
                <a:ea typeface="Public Sans" pitchFamily="34" charset="-122"/>
                <a:cs typeface="Public Sans" pitchFamily="34" charset="-120"/>
              </a:rPr>
              <a:t>20% test data</a:t>
            </a:r>
            <a:r>
              <a:rPr lang="en-US" sz="1500" dirty="0">
                <a:solidFill>
                  <a:srgbClr val="6F655D"/>
                </a:solidFill>
                <a:latin typeface="Public Sans" pitchFamily="34" charset="0"/>
                <a:ea typeface="Public Sans" pitchFamily="34" charset="-122"/>
                <a:cs typeface="Public Sans" pitchFamily="34" charset="-120"/>
              </a:rPr>
              <a:t>. This ensures sufficient data for model training while reserving unseen examples for unbiased evaluation.</a:t>
            </a:r>
            <a:endParaRPr lang="en-US" sz="1500" dirty="0"/>
          </a:p>
        </p:txBody>
      </p:sp>
      <p:sp>
        <p:nvSpPr>
          <p:cNvPr id="8" name="Text 6"/>
          <p:cNvSpPr/>
          <p:nvPr/>
        </p:nvSpPr>
        <p:spPr>
          <a:xfrm>
            <a:off x="681514" y="6413302"/>
            <a:ext cx="4334708" cy="586740"/>
          </a:xfrm>
          <a:prstGeom prst="rect">
            <a:avLst/>
          </a:prstGeom>
          <a:noFill/>
        </p:spPr>
        <p:txBody>
          <a:bodyPr wrap="square" lIns="0" tIns="0" rIns="0" bIns="0" rtlCol="0" anchor="t"/>
          <a:lstStyle/>
          <a:p>
            <a:pPr marL="0" indent="0" algn="l">
              <a:lnSpc>
                <a:spcPts val="2250"/>
              </a:lnSpc>
              <a:buNone/>
            </a:pPr>
            <a:r>
              <a:rPr lang="en-US" sz="1500" dirty="0">
                <a:solidFill>
                  <a:srgbClr val="6F655D"/>
                </a:solidFill>
                <a:highlight>
                  <a:srgbClr val="F2EDE9"/>
                </a:highlight>
                <a:latin typeface="Consolas" panose="020B0609020204030204" pitchFamily="34" charset="0"/>
                <a:ea typeface="Consolas" panose="020B0609020204030204" pitchFamily="34" charset="-122"/>
                <a:cs typeface="Consolas" panose="020B0609020204030204" pitchFamily="34" charset="-120"/>
              </a:rPr>
              <a:t>random_state=42</a:t>
            </a:r>
            <a:r>
              <a:rPr lang="en-US" sz="1500" dirty="0">
                <a:solidFill>
                  <a:srgbClr val="6F655D"/>
                </a:solidFill>
                <a:latin typeface="Public Sans" pitchFamily="34" charset="0"/>
                <a:ea typeface="Public Sans" pitchFamily="34" charset="-122"/>
                <a:cs typeface="Public Sans" pitchFamily="34" charset="-120"/>
              </a:rPr>
              <a:t> guarantees reproducible results across multiple runs.</a:t>
            </a:r>
            <a:endParaRPr lang="en-US" sz="1500" dirty="0"/>
          </a:p>
        </p:txBody>
      </p:sp>
      <p:pic>
        <p:nvPicPr>
          <p:cNvPr id="9" name="Image 0" descr="preencoded.png"/>
          <p:cNvPicPr>
            <a:picLocks noChangeAspect="1"/>
          </p:cNvPicPr>
          <p:nvPr/>
        </p:nvPicPr>
        <p:blipFill>
          <a:blip r:embed="rId1"/>
          <a:stretch>
            <a:fillRect/>
          </a:stretch>
        </p:blipFill>
        <p:spPr>
          <a:xfrm>
            <a:off x="5498902" y="2184202"/>
            <a:ext cx="8457486" cy="47203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595360" y="0"/>
            <a:ext cx="6035040" cy="8229600"/>
          </a:xfrm>
          <a:prstGeom prst="rect">
            <a:avLst/>
          </a:prstGeom>
        </p:spPr>
      </p:pic>
      <p:sp>
        <p:nvSpPr>
          <p:cNvPr id="3" name="Text 0"/>
          <p:cNvSpPr/>
          <p:nvPr/>
        </p:nvSpPr>
        <p:spPr>
          <a:xfrm>
            <a:off x="773073" y="802005"/>
            <a:ext cx="6489144" cy="690205"/>
          </a:xfrm>
          <a:prstGeom prst="rect">
            <a:avLst/>
          </a:prstGeom>
          <a:noFill/>
        </p:spPr>
        <p:txBody>
          <a:bodyPr wrap="none" lIns="0" tIns="0" rIns="0" bIns="0" rtlCol="0" anchor="t"/>
          <a:lstStyle/>
          <a:p>
            <a:pPr marL="0" indent="0" algn="l">
              <a:lnSpc>
                <a:spcPts val="5400"/>
              </a:lnSpc>
              <a:buNone/>
            </a:pPr>
            <a:r>
              <a:rPr lang="en-US" sz="4300" dirty="0">
                <a:solidFill>
                  <a:srgbClr val="4B6981"/>
                </a:solidFill>
                <a:latin typeface="Playfair Display Semi Bold" pitchFamily="34" charset="0"/>
                <a:ea typeface="Playfair Display Semi Bold" pitchFamily="34" charset="-122"/>
                <a:cs typeface="Playfair Display Semi Bold" pitchFamily="34" charset="-120"/>
              </a:rPr>
              <a:t>Model Training: The Core</a:t>
            </a:r>
            <a:endParaRPr lang="en-US" sz="4300" dirty="0"/>
          </a:p>
        </p:txBody>
      </p:sp>
      <p:pic>
        <p:nvPicPr>
          <p:cNvPr id="4" name="Image 1" descr="preencoded.png"/>
          <p:cNvPicPr>
            <a:picLocks noChangeAspect="1"/>
          </p:cNvPicPr>
          <p:nvPr/>
        </p:nvPicPr>
        <p:blipFill>
          <a:blip r:embed="rId2"/>
          <a:stretch>
            <a:fillRect/>
          </a:stretch>
        </p:blipFill>
        <p:spPr>
          <a:xfrm>
            <a:off x="773073" y="1814870"/>
            <a:ext cx="1104424" cy="1325285"/>
          </a:xfrm>
          <a:prstGeom prst="rect">
            <a:avLst/>
          </a:prstGeom>
        </p:spPr>
      </p:pic>
      <p:sp>
        <p:nvSpPr>
          <p:cNvPr id="5" name="Text 1"/>
          <p:cNvSpPr/>
          <p:nvPr/>
        </p:nvSpPr>
        <p:spPr>
          <a:xfrm>
            <a:off x="2092523" y="2035731"/>
            <a:ext cx="2761178" cy="345043"/>
          </a:xfrm>
          <a:prstGeom prst="rect">
            <a:avLst/>
          </a:prstGeom>
          <a:noFill/>
        </p:spPr>
        <p:txBody>
          <a:bodyPr wrap="none" lIns="0" tIns="0" rIns="0" bIns="0" rtlCol="0" anchor="t"/>
          <a:lstStyle/>
          <a:p>
            <a:pPr marL="0" indent="0" algn="l">
              <a:lnSpc>
                <a:spcPts val="2700"/>
              </a:lnSpc>
              <a:buNone/>
            </a:pPr>
            <a:r>
              <a:rPr lang="en-US" sz="2150" dirty="0">
                <a:solidFill>
                  <a:srgbClr val="6F655D"/>
                </a:solidFill>
                <a:latin typeface="Playfair Display Semi Bold" pitchFamily="34" charset="0"/>
                <a:ea typeface="Playfair Display Semi Bold" pitchFamily="34" charset="-122"/>
                <a:cs typeface="Playfair Display Semi Bold" pitchFamily="34" charset="-120"/>
              </a:rPr>
              <a:t>Initialize Model</a:t>
            </a:r>
            <a:endParaRPr lang="en-US" sz="2150" dirty="0"/>
          </a:p>
        </p:txBody>
      </p:sp>
      <p:sp>
        <p:nvSpPr>
          <p:cNvPr id="6" name="Text 2"/>
          <p:cNvSpPr/>
          <p:nvPr/>
        </p:nvSpPr>
        <p:spPr>
          <a:xfrm>
            <a:off x="2092523" y="2509838"/>
            <a:ext cx="6278404" cy="348734"/>
          </a:xfrm>
          <a:prstGeom prst="rect">
            <a:avLst/>
          </a:prstGeom>
          <a:noFill/>
        </p:spPr>
        <p:txBody>
          <a:bodyPr wrap="none" lIns="0" tIns="0" rIns="0" bIns="0" rtlCol="0" anchor="t"/>
          <a:lstStyle/>
          <a:p>
            <a:pPr marL="0" indent="0" algn="l">
              <a:lnSpc>
                <a:spcPts val="2700"/>
              </a:lnSpc>
              <a:buNone/>
            </a:pPr>
            <a:r>
              <a:rPr lang="en-US" sz="1700" dirty="0">
                <a:solidFill>
                  <a:srgbClr val="6F655D"/>
                </a:solidFill>
                <a:latin typeface="Public Sans" pitchFamily="34" charset="0"/>
                <a:ea typeface="Public Sans" pitchFamily="34" charset="-122"/>
                <a:cs typeface="Public Sans" pitchFamily="34" charset="-120"/>
              </a:rPr>
              <a:t>Create LinearRegression object</a:t>
            </a:r>
            <a:endParaRPr lang="en-US" sz="1700" dirty="0"/>
          </a:p>
        </p:txBody>
      </p:sp>
      <p:pic>
        <p:nvPicPr>
          <p:cNvPr id="7" name="Image 2" descr="preencoded.png"/>
          <p:cNvPicPr>
            <a:picLocks noChangeAspect="1"/>
          </p:cNvPicPr>
          <p:nvPr/>
        </p:nvPicPr>
        <p:blipFill>
          <a:blip r:embed="rId3"/>
          <a:stretch>
            <a:fillRect/>
          </a:stretch>
        </p:blipFill>
        <p:spPr>
          <a:xfrm>
            <a:off x="773073" y="3140154"/>
            <a:ext cx="1104424" cy="1325285"/>
          </a:xfrm>
          <a:prstGeom prst="rect">
            <a:avLst/>
          </a:prstGeom>
        </p:spPr>
      </p:pic>
      <p:sp>
        <p:nvSpPr>
          <p:cNvPr id="8" name="Text 3"/>
          <p:cNvSpPr/>
          <p:nvPr/>
        </p:nvSpPr>
        <p:spPr>
          <a:xfrm>
            <a:off x="2092523" y="3361015"/>
            <a:ext cx="2761178" cy="345043"/>
          </a:xfrm>
          <a:prstGeom prst="rect">
            <a:avLst/>
          </a:prstGeom>
          <a:noFill/>
        </p:spPr>
        <p:txBody>
          <a:bodyPr wrap="none" lIns="0" tIns="0" rIns="0" bIns="0" rtlCol="0" anchor="t"/>
          <a:lstStyle/>
          <a:p>
            <a:pPr marL="0" indent="0" algn="l">
              <a:lnSpc>
                <a:spcPts val="2700"/>
              </a:lnSpc>
              <a:buNone/>
            </a:pPr>
            <a:r>
              <a:rPr lang="en-US" sz="2150" dirty="0">
                <a:solidFill>
                  <a:srgbClr val="6F655D"/>
                </a:solidFill>
                <a:latin typeface="Playfair Display Semi Bold" pitchFamily="34" charset="0"/>
                <a:ea typeface="Playfair Display Semi Bold" pitchFamily="34" charset="-122"/>
                <a:cs typeface="Playfair Display Semi Bold" pitchFamily="34" charset="-120"/>
              </a:rPr>
              <a:t>Fit Training Data</a:t>
            </a:r>
            <a:endParaRPr lang="en-US" sz="2150" dirty="0"/>
          </a:p>
        </p:txBody>
      </p:sp>
      <p:sp>
        <p:nvSpPr>
          <p:cNvPr id="9" name="Text 4"/>
          <p:cNvSpPr/>
          <p:nvPr/>
        </p:nvSpPr>
        <p:spPr>
          <a:xfrm>
            <a:off x="2092523" y="3835122"/>
            <a:ext cx="6278404" cy="348734"/>
          </a:xfrm>
          <a:prstGeom prst="rect">
            <a:avLst/>
          </a:prstGeom>
          <a:noFill/>
        </p:spPr>
        <p:txBody>
          <a:bodyPr wrap="none" lIns="0" tIns="0" rIns="0" bIns="0" rtlCol="0" anchor="t"/>
          <a:lstStyle/>
          <a:p>
            <a:pPr marL="0" indent="0" algn="l">
              <a:lnSpc>
                <a:spcPts val="2700"/>
              </a:lnSpc>
              <a:buNone/>
            </a:pPr>
            <a:r>
              <a:rPr lang="en-US" sz="1700" dirty="0">
                <a:solidFill>
                  <a:srgbClr val="6F655D"/>
                </a:solidFill>
                <a:latin typeface="Public Sans" pitchFamily="34" charset="0"/>
                <a:ea typeface="Public Sans" pitchFamily="34" charset="-122"/>
                <a:cs typeface="Public Sans" pitchFamily="34" charset="-120"/>
              </a:rPr>
              <a:t>Learn patterns from X_train and y_train</a:t>
            </a:r>
            <a:endParaRPr lang="en-US" sz="1700" dirty="0"/>
          </a:p>
        </p:txBody>
      </p:sp>
      <p:pic>
        <p:nvPicPr>
          <p:cNvPr id="10" name="Image 3" descr="preencoded.png"/>
          <p:cNvPicPr>
            <a:picLocks noChangeAspect="1"/>
          </p:cNvPicPr>
          <p:nvPr/>
        </p:nvPicPr>
        <p:blipFill>
          <a:blip r:embed="rId4"/>
          <a:stretch>
            <a:fillRect/>
          </a:stretch>
        </p:blipFill>
        <p:spPr>
          <a:xfrm>
            <a:off x="773073" y="4465439"/>
            <a:ext cx="1104424" cy="1325285"/>
          </a:xfrm>
          <a:prstGeom prst="rect">
            <a:avLst/>
          </a:prstGeom>
        </p:spPr>
      </p:pic>
      <p:sp>
        <p:nvSpPr>
          <p:cNvPr id="11" name="Text 5"/>
          <p:cNvSpPr/>
          <p:nvPr/>
        </p:nvSpPr>
        <p:spPr>
          <a:xfrm>
            <a:off x="2092523" y="4686300"/>
            <a:ext cx="2761178" cy="345043"/>
          </a:xfrm>
          <a:prstGeom prst="rect">
            <a:avLst/>
          </a:prstGeom>
          <a:noFill/>
        </p:spPr>
        <p:txBody>
          <a:bodyPr wrap="none" lIns="0" tIns="0" rIns="0" bIns="0" rtlCol="0" anchor="t"/>
          <a:lstStyle/>
          <a:p>
            <a:pPr marL="0" indent="0" algn="l">
              <a:lnSpc>
                <a:spcPts val="2700"/>
              </a:lnSpc>
              <a:buNone/>
            </a:pPr>
            <a:r>
              <a:rPr lang="en-US" sz="2150" dirty="0">
                <a:solidFill>
                  <a:srgbClr val="6F655D"/>
                </a:solidFill>
                <a:latin typeface="Playfair Display Semi Bold" pitchFamily="34" charset="0"/>
                <a:ea typeface="Playfair Display Semi Bold" pitchFamily="34" charset="-122"/>
                <a:cs typeface="Playfair Display Semi Bold" pitchFamily="34" charset="-120"/>
              </a:rPr>
              <a:t>Build Relationships</a:t>
            </a:r>
            <a:endParaRPr lang="en-US" sz="2150" dirty="0"/>
          </a:p>
        </p:txBody>
      </p:sp>
      <p:sp>
        <p:nvSpPr>
          <p:cNvPr id="12" name="Text 6"/>
          <p:cNvSpPr/>
          <p:nvPr/>
        </p:nvSpPr>
        <p:spPr>
          <a:xfrm>
            <a:off x="2092523" y="5160407"/>
            <a:ext cx="6278404" cy="348734"/>
          </a:xfrm>
          <a:prstGeom prst="rect">
            <a:avLst/>
          </a:prstGeom>
          <a:noFill/>
        </p:spPr>
        <p:txBody>
          <a:bodyPr wrap="none" lIns="0" tIns="0" rIns="0" bIns="0" rtlCol="0" anchor="t"/>
          <a:lstStyle/>
          <a:p>
            <a:pPr marL="0" indent="0" algn="l">
              <a:lnSpc>
                <a:spcPts val="2700"/>
              </a:lnSpc>
              <a:buNone/>
            </a:pPr>
            <a:r>
              <a:rPr lang="en-US" sz="1700" dirty="0">
                <a:solidFill>
                  <a:srgbClr val="6F655D"/>
                </a:solidFill>
                <a:latin typeface="Public Sans" pitchFamily="34" charset="0"/>
                <a:ea typeface="Public Sans" pitchFamily="34" charset="-122"/>
                <a:cs typeface="Public Sans" pitchFamily="34" charset="-120"/>
              </a:rPr>
              <a:t>Establish weight coefficients</a:t>
            </a:r>
            <a:endParaRPr lang="en-US" sz="1700" dirty="0"/>
          </a:p>
        </p:txBody>
      </p:sp>
      <p:sp>
        <p:nvSpPr>
          <p:cNvPr id="13" name="Text 7"/>
          <p:cNvSpPr/>
          <p:nvPr/>
        </p:nvSpPr>
        <p:spPr>
          <a:xfrm>
            <a:off x="773073" y="6032659"/>
            <a:ext cx="7597854" cy="1394936"/>
          </a:xfrm>
          <a:prstGeom prst="rect">
            <a:avLst/>
          </a:prstGeom>
          <a:noFill/>
        </p:spPr>
        <p:txBody>
          <a:bodyPr wrap="square" lIns="0" tIns="0" rIns="0" bIns="0" rtlCol="0" anchor="t"/>
          <a:lstStyle/>
          <a:p>
            <a:pPr marL="0" indent="0" algn="l">
              <a:lnSpc>
                <a:spcPts val="2700"/>
              </a:lnSpc>
              <a:buNone/>
            </a:pPr>
            <a:r>
              <a:rPr lang="en-US" sz="1700" dirty="0">
                <a:solidFill>
                  <a:srgbClr val="6F655D"/>
                </a:solidFill>
                <a:latin typeface="Public Sans" pitchFamily="34" charset="0"/>
                <a:ea typeface="Public Sans" pitchFamily="34" charset="-122"/>
                <a:cs typeface="Public Sans" pitchFamily="34" charset="-120"/>
              </a:rPr>
              <a:t>During training, the algorithm iteratively adjusts coefficients to minimize prediction error. The model learns the optimal relationship between input features and salary through </a:t>
            </a:r>
            <a:r>
              <a:rPr lang="en-US" sz="1700" b="1" dirty="0">
                <a:solidFill>
                  <a:srgbClr val="6F655D"/>
                </a:solidFill>
                <a:latin typeface="Public Sans" pitchFamily="34" charset="0"/>
                <a:ea typeface="Public Sans" pitchFamily="34" charset="-122"/>
                <a:cs typeface="Public Sans" pitchFamily="34" charset="-120"/>
              </a:rPr>
              <a:t>Ordinary Least Squares</a:t>
            </a:r>
            <a:r>
              <a:rPr lang="en-US" sz="1700" dirty="0">
                <a:solidFill>
                  <a:srgbClr val="6F655D"/>
                </a:solidFill>
                <a:latin typeface="Public Sans" pitchFamily="34" charset="0"/>
                <a:ea typeface="Public Sans" pitchFamily="34" charset="-122"/>
                <a:cs typeface="Public Sans" pitchFamily="34" charset="-120"/>
              </a:rPr>
              <a:t> optimization, identifying which factors most strongly influence compensation.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6035040" cy="8229600"/>
          </a:xfrm>
          <a:prstGeom prst="rect">
            <a:avLst/>
          </a:prstGeom>
        </p:spPr>
      </p:pic>
      <p:sp>
        <p:nvSpPr>
          <p:cNvPr id="3" name="Text 0"/>
          <p:cNvSpPr/>
          <p:nvPr/>
        </p:nvSpPr>
        <p:spPr>
          <a:xfrm>
            <a:off x="6239113" y="662464"/>
            <a:ext cx="6263759" cy="672108"/>
          </a:xfrm>
          <a:prstGeom prst="rect">
            <a:avLst/>
          </a:prstGeom>
          <a:noFill/>
        </p:spPr>
        <p:txBody>
          <a:bodyPr wrap="none" lIns="0" tIns="0" rIns="0" bIns="0" rtlCol="0" anchor="t"/>
          <a:lstStyle/>
          <a:p>
            <a:pPr marL="0" indent="0" algn="l">
              <a:lnSpc>
                <a:spcPts val="5250"/>
              </a:lnSpc>
              <a:buNone/>
            </a:pPr>
            <a:r>
              <a:rPr lang="en-US" sz="4200" dirty="0">
                <a:solidFill>
                  <a:srgbClr val="4B6981"/>
                </a:solidFill>
                <a:latin typeface="Playfair Display Semi Bold" pitchFamily="34" charset="0"/>
                <a:ea typeface="Playfair Display Semi Bold" pitchFamily="34" charset="-122"/>
                <a:cs typeface="Playfair Display Semi Bold" pitchFamily="34" charset="-120"/>
              </a:rPr>
              <a:t>Model Evaluation Metrics</a:t>
            </a:r>
            <a:endParaRPr lang="en-US" sz="4200" dirty="0"/>
          </a:p>
        </p:txBody>
      </p:sp>
      <p:sp>
        <p:nvSpPr>
          <p:cNvPr id="4" name="Text 1"/>
          <p:cNvSpPr/>
          <p:nvPr/>
        </p:nvSpPr>
        <p:spPr>
          <a:xfrm>
            <a:off x="6239113" y="1640443"/>
            <a:ext cx="7638574" cy="335042"/>
          </a:xfrm>
          <a:prstGeom prst="rect">
            <a:avLst/>
          </a:prstGeom>
          <a:noFill/>
        </p:spPr>
        <p:txBody>
          <a:bodyPr wrap="none" lIns="0" tIns="0" rIns="0" bIns="0" rtlCol="0" anchor="t"/>
          <a:lstStyle/>
          <a:p>
            <a:pPr marL="0" indent="0" algn="l">
              <a:lnSpc>
                <a:spcPts val="2600"/>
              </a:lnSpc>
              <a:buNone/>
            </a:pPr>
            <a:r>
              <a:rPr lang="en-US" sz="1650" dirty="0">
                <a:solidFill>
                  <a:srgbClr val="6F655D"/>
                </a:solidFill>
                <a:latin typeface="Public Sans" pitchFamily="34" charset="0"/>
                <a:ea typeface="Public Sans" pitchFamily="34" charset="-122"/>
                <a:cs typeface="Public Sans" pitchFamily="34" charset="-120"/>
              </a:rPr>
              <a:t>Three key metrics assess prediction accuracy and model performance:</a:t>
            </a:r>
            <a:endParaRPr lang="en-US" sz="1650" dirty="0"/>
          </a:p>
        </p:txBody>
      </p:sp>
      <p:sp>
        <p:nvSpPr>
          <p:cNvPr id="5" name="Shape 2"/>
          <p:cNvSpPr/>
          <p:nvPr/>
        </p:nvSpPr>
        <p:spPr>
          <a:xfrm>
            <a:off x="6239113" y="2204799"/>
            <a:ext cx="3717369" cy="3249811"/>
          </a:xfrm>
          <a:prstGeom prst="roundRect">
            <a:avLst>
              <a:gd name="adj" fmla="val 2780"/>
            </a:avLst>
          </a:prstGeom>
          <a:solidFill>
            <a:srgbClr val="E1C2C2">
              <a:alpha val="50000"/>
            </a:srgbClr>
          </a:solidFill>
          <a:ln w="7620">
            <a:solidFill>
              <a:srgbClr val="C7A8A8"/>
            </a:solidFill>
            <a:prstDash val="solid"/>
          </a:ln>
          <a:effectLst>
            <a:outerShdw dist="19050" dir="2700000" algn="bl" rotWithShape="0">
              <a:srgbClr val="C7A8A8">
                <a:alpha val="100000"/>
              </a:srgbClr>
            </a:outerShdw>
          </a:effectLst>
        </p:spPr>
      </p:sp>
      <p:sp>
        <p:nvSpPr>
          <p:cNvPr id="6" name="Text 3"/>
          <p:cNvSpPr/>
          <p:nvPr/>
        </p:nvSpPr>
        <p:spPr>
          <a:xfrm>
            <a:off x="6461760" y="2427446"/>
            <a:ext cx="3272076" cy="671989"/>
          </a:xfrm>
          <a:prstGeom prst="rect">
            <a:avLst/>
          </a:prstGeom>
          <a:noFill/>
        </p:spPr>
        <p:txBody>
          <a:bodyPr wrap="square" lIns="0" tIns="0" rIns="0" bIns="0" rtlCol="0" anchor="t"/>
          <a:lstStyle/>
          <a:p>
            <a:pPr marL="0" indent="0" algn="l">
              <a:lnSpc>
                <a:spcPts val="2600"/>
              </a:lnSpc>
              <a:buNone/>
            </a:pPr>
            <a:r>
              <a:rPr lang="en-US" sz="2100" dirty="0">
                <a:solidFill>
                  <a:srgbClr val="000000"/>
                </a:solidFill>
                <a:latin typeface="Playfair Display Semi Bold" pitchFamily="34" charset="0"/>
                <a:ea typeface="Playfair Display Semi Bold" pitchFamily="34" charset="-122"/>
                <a:cs typeface="Playfair Display Semi Bold" pitchFamily="34" charset="-120"/>
              </a:rPr>
              <a:t>Mean Absolute Error (MAE)</a:t>
            </a:r>
            <a:endParaRPr lang="en-US" sz="2100" dirty="0"/>
          </a:p>
        </p:txBody>
      </p:sp>
      <p:sp>
        <p:nvSpPr>
          <p:cNvPr id="7" name="Text 4"/>
          <p:cNvSpPr/>
          <p:nvPr/>
        </p:nvSpPr>
        <p:spPr>
          <a:xfrm>
            <a:off x="6461760" y="3221712"/>
            <a:ext cx="3272076" cy="2010251"/>
          </a:xfrm>
          <a:prstGeom prst="rect">
            <a:avLst/>
          </a:prstGeom>
          <a:noFill/>
        </p:spPr>
        <p:txBody>
          <a:bodyPr wrap="square" lIns="0" tIns="0" rIns="0" bIns="0" rtlCol="0" anchor="t"/>
          <a:lstStyle/>
          <a:p>
            <a:pPr marL="0" indent="0" algn="l">
              <a:lnSpc>
                <a:spcPts val="2600"/>
              </a:lnSpc>
              <a:buNone/>
            </a:pPr>
            <a:r>
              <a:rPr lang="en-US" sz="1650" dirty="0">
                <a:solidFill>
                  <a:srgbClr val="000000"/>
                </a:solidFill>
                <a:latin typeface="Public Sans" pitchFamily="34" charset="0"/>
                <a:ea typeface="Public Sans" pitchFamily="34" charset="-122"/>
                <a:cs typeface="Public Sans" pitchFamily="34" charset="-120"/>
              </a:rPr>
              <a:t>Average absolute difference between predicted and actual salaries. Lower values indicate better accuracy. MAE is robust to outliers and easy to interpret in original units.</a:t>
            </a:r>
            <a:endParaRPr lang="en-US" sz="1650" dirty="0"/>
          </a:p>
        </p:txBody>
      </p:sp>
      <p:sp>
        <p:nvSpPr>
          <p:cNvPr id="8" name="Shape 5"/>
          <p:cNvSpPr/>
          <p:nvPr/>
        </p:nvSpPr>
        <p:spPr>
          <a:xfrm>
            <a:off x="10160318" y="2204799"/>
            <a:ext cx="3717369" cy="3249811"/>
          </a:xfrm>
          <a:prstGeom prst="roundRect">
            <a:avLst>
              <a:gd name="adj" fmla="val 2780"/>
            </a:avLst>
          </a:prstGeom>
          <a:solidFill>
            <a:srgbClr val="CCC4EC">
              <a:alpha val="50000"/>
            </a:srgbClr>
          </a:solidFill>
          <a:ln w="7620">
            <a:solidFill>
              <a:srgbClr val="B2AAD2"/>
            </a:solidFill>
            <a:prstDash val="solid"/>
          </a:ln>
          <a:effectLst>
            <a:outerShdw dist="19050" dir="2700000" algn="bl" rotWithShape="0">
              <a:srgbClr val="B2AAD2">
                <a:alpha val="100000"/>
              </a:srgbClr>
            </a:outerShdw>
          </a:effectLst>
        </p:spPr>
      </p:sp>
      <p:sp>
        <p:nvSpPr>
          <p:cNvPr id="9" name="Text 6"/>
          <p:cNvSpPr/>
          <p:nvPr/>
        </p:nvSpPr>
        <p:spPr>
          <a:xfrm>
            <a:off x="10382964" y="2427446"/>
            <a:ext cx="3272076" cy="671989"/>
          </a:xfrm>
          <a:prstGeom prst="rect">
            <a:avLst/>
          </a:prstGeom>
          <a:noFill/>
        </p:spPr>
        <p:txBody>
          <a:bodyPr wrap="square" lIns="0" tIns="0" rIns="0" bIns="0" rtlCol="0" anchor="t"/>
          <a:lstStyle/>
          <a:p>
            <a:pPr marL="0" indent="0" algn="l">
              <a:lnSpc>
                <a:spcPts val="2600"/>
              </a:lnSpc>
              <a:buNone/>
            </a:pPr>
            <a:r>
              <a:rPr lang="en-US" sz="2100" dirty="0">
                <a:solidFill>
                  <a:srgbClr val="000000"/>
                </a:solidFill>
                <a:latin typeface="Playfair Display Semi Bold" pitchFamily="34" charset="0"/>
                <a:ea typeface="Playfair Display Semi Bold" pitchFamily="34" charset="-122"/>
                <a:cs typeface="Playfair Display Semi Bold" pitchFamily="34" charset="-120"/>
              </a:rPr>
              <a:t>Root Mean Squared Error (RMSE)</a:t>
            </a:r>
            <a:endParaRPr lang="en-US" sz="2100" dirty="0"/>
          </a:p>
        </p:txBody>
      </p:sp>
      <p:sp>
        <p:nvSpPr>
          <p:cNvPr id="10" name="Text 7"/>
          <p:cNvSpPr/>
          <p:nvPr/>
        </p:nvSpPr>
        <p:spPr>
          <a:xfrm>
            <a:off x="10382964" y="3221712"/>
            <a:ext cx="3272076" cy="1675209"/>
          </a:xfrm>
          <a:prstGeom prst="rect">
            <a:avLst/>
          </a:prstGeom>
          <a:noFill/>
        </p:spPr>
        <p:txBody>
          <a:bodyPr wrap="square" lIns="0" tIns="0" rIns="0" bIns="0" rtlCol="0" anchor="t"/>
          <a:lstStyle/>
          <a:p>
            <a:pPr marL="0" indent="0" algn="l">
              <a:lnSpc>
                <a:spcPts val="2600"/>
              </a:lnSpc>
              <a:buNone/>
            </a:pPr>
            <a:r>
              <a:rPr lang="en-US" sz="1650" dirty="0">
                <a:solidFill>
                  <a:srgbClr val="000000"/>
                </a:solidFill>
                <a:latin typeface="Public Sans" pitchFamily="34" charset="0"/>
                <a:ea typeface="Public Sans" pitchFamily="34" charset="-122"/>
                <a:cs typeface="Public Sans" pitchFamily="34" charset="-120"/>
              </a:rPr>
              <a:t>Square root of average squared errors. Penalizes larger errors more heavily than MAE. Provides a measure of typical prediction deviation from actual values.</a:t>
            </a:r>
            <a:endParaRPr lang="en-US" sz="1650" dirty="0"/>
          </a:p>
        </p:txBody>
      </p:sp>
      <p:sp>
        <p:nvSpPr>
          <p:cNvPr id="11" name="Shape 8"/>
          <p:cNvSpPr/>
          <p:nvPr/>
        </p:nvSpPr>
        <p:spPr>
          <a:xfrm>
            <a:off x="6239113" y="5658445"/>
            <a:ext cx="7638574" cy="1908691"/>
          </a:xfrm>
          <a:prstGeom prst="roundRect">
            <a:avLst>
              <a:gd name="adj" fmla="val 4733"/>
            </a:avLst>
          </a:prstGeom>
          <a:solidFill>
            <a:srgbClr val="B4DAE4">
              <a:alpha val="50000"/>
            </a:srgbClr>
          </a:solidFill>
          <a:ln w="7620">
            <a:solidFill>
              <a:srgbClr val="9AC0CA"/>
            </a:solidFill>
            <a:prstDash val="solid"/>
          </a:ln>
          <a:effectLst>
            <a:outerShdw dist="19050" dir="2700000" algn="bl" rotWithShape="0">
              <a:srgbClr val="9AC0CA">
                <a:alpha val="100000"/>
              </a:srgbClr>
            </a:outerShdw>
          </a:effectLst>
        </p:spPr>
      </p:sp>
      <p:sp>
        <p:nvSpPr>
          <p:cNvPr id="12" name="Text 9"/>
          <p:cNvSpPr/>
          <p:nvPr/>
        </p:nvSpPr>
        <p:spPr>
          <a:xfrm>
            <a:off x="6461760" y="5881092"/>
            <a:ext cx="2688431" cy="335994"/>
          </a:xfrm>
          <a:prstGeom prst="rect">
            <a:avLst/>
          </a:prstGeom>
          <a:noFill/>
        </p:spPr>
        <p:txBody>
          <a:bodyPr wrap="none" lIns="0" tIns="0" rIns="0" bIns="0" rtlCol="0" anchor="t"/>
          <a:lstStyle/>
          <a:p>
            <a:pPr marL="0" indent="0" algn="l">
              <a:lnSpc>
                <a:spcPts val="2600"/>
              </a:lnSpc>
              <a:buNone/>
            </a:pPr>
            <a:r>
              <a:rPr lang="en-US" sz="2100" dirty="0">
                <a:solidFill>
                  <a:srgbClr val="000000"/>
                </a:solidFill>
                <a:latin typeface="Playfair Display Semi Bold" pitchFamily="34" charset="0"/>
                <a:ea typeface="Playfair Display Semi Bold" pitchFamily="34" charset="-122"/>
                <a:cs typeface="Playfair Display Semi Bold" pitchFamily="34" charset="-120"/>
              </a:rPr>
              <a:t>R-squared (R²) Score</a:t>
            </a:r>
            <a:endParaRPr lang="en-US" sz="2100" dirty="0"/>
          </a:p>
        </p:txBody>
      </p:sp>
      <p:sp>
        <p:nvSpPr>
          <p:cNvPr id="13" name="Text 10"/>
          <p:cNvSpPr/>
          <p:nvPr/>
        </p:nvSpPr>
        <p:spPr>
          <a:xfrm>
            <a:off x="6461760" y="6339364"/>
            <a:ext cx="7193280" cy="1005126"/>
          </a:xfrm>
          <a:prstGeom prst="rect">
            <a:avLst/>
          </a:prstGeom>
          <a:noFill/>
        </p:spPr>
        <p:txBody>
          <a:bodyPr wrap="square" lIns="0" tIns="0" rIns="0" bIns="0" rtlCol="0" anchor="t"/>
          <a:lstStyle/>
          <a:p>
            <a:pPr marL="0" indent="0" algn="l">
              <a:lnSpc>
                <a:spcPts val="2600"/>
              </a:lnSpc>
              <a:buNone/>
            </a:pPr>
            <a:r>
              <a:rPr lang="en-US" sz="1650" dirty="0">
                <a:solidFill>
                  <a:srgbClr val="000000"/>
                </a:solidFill>
                <a:latin typeface="Public Sans" pitchFamily="34" charset="0"/>
                <a:ea typeface="Public Sans" pitchFamily="34" charset="-122"/>
                <a:cs typeface="Public Sans" pitchFamily="34" charset="-120"/>
              </a:rPr>
              <a:t>Proportion of variance in salary explained by the model. Ranges from 0 to 1, where higher values indicate better fit. Represents percentage of salary variability captured by features.</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595360" y="0"/>
            <a:ext cx="6035040" cy="8229600"/>
          </a:xfrm>
          <a:prstGeom prst="rect">
            <a:avLst/>
          </a:prstGeom>
        </p:spPr>
      </p:pic>
      <p:sp>
        <p:nvSpPr>
          <p:cNvPr id="3" name="Text 0"/>
          <p:cNvSpPr/>
          <p:nvPr/>
        </p:nvSpPr>
        <p:spPr>
          <a:xfrm>
            <a:off x="753427" y="656868"/>
            <a:ext cx="7637145" cy="1345406"/>
          </a:xfrm>
          <a:prstGeom prst="rect">
            <a:avLst/>
          </a:prstGeom>
          <a:noFill/>
        </p:spPr>
        <p:txBody>
          <a:bodyPr wrap="square" lIns="0" tIns="0" rIns="0" bIns="0" rtlCol="0" anchor="t"/>
          <a:lstStyle/>
          <a:p>
            <a:pPr marL="0" indent="0" algn="l">
              <a:lnSpc>
                <a:spcPts val="5250"/>
              </a:lnSpc>
              <a:buNone/>
            </a:pPr>
            <a:r>
              <a:rPr lang="en-US" sz="4200" dirty="0">
                <a:solidFill>
                  <a:srgbClr val="4B6981"/>
                </a:solidFill>
                <a:latin typeface="Playfair Display Semi Bold" pitchFamily="34" charset="0"/>
                <a:ea typeface="Playfair Display Semi Bold" pitchFamily="34" charset="-122"/>
                <a:cs typeface="Playfair Display Semi Bold" pitchFamily="34" charset="-120"/>
              </a:rPr>
              <a:t>Exploratory Data Analysis (EDA)</a:t>
            </a:r>
            <a:endParaRPr lang="en-US" sz="4200" dirty="0"/>
          </a:p>
        </p:txBody>
      </p:sp>
      <p:sp>
        <p:nvSpPr>
          <p:cNvPr id="4" name="Text 1"/>
          <p:cNvSpPr/>
          <p:nvPr/>
        </p:nvSpPr>
        <p:spPr>
          <a:xfrm>
            <a:off x="753427" y="2308622"/>
            <a:ext cx="7637145" cy="671274"/>
          </a:xfrm>
          <a:prstGeom prst="rect">
            <a:avLst/>
          </a:prstGeom>
          <a:noFill/>
        </p:spPr>
        <p:txBody>
          <a:bodyPr wrap="square" lIns="0" tIns="0" rIns="0" bIns="0" rtlCol="0" anchor="t"/>
          <a:lstStyle/>
          <a:p>
            <a:pPr marL="0" indent="0" algn="l">
              <a:lnSpc>
                <a:spcPts val="2600"/>
              </a:lnSpc>
              <a:buNone/>
            </a:pPr>
            <a:r>
              <a:rPr lang="en-US" sz="1650" dirty="0">
                <a:solidFill>
                  <a:srgbClr val="6F655D"/>
                </a:solidFill>
                <a:latin typeface="Public Sans" pitchFamily="34" charset="0"/>
                <a:ea typeface="Public Sans" pitchFamily="34" charset="-122"/>
                <a:cs typeface="Public Sans" pitchFamily="34" charset="-120"/>
              </a:rPr>
              <a:t>Comprehensive analysis using Seaborn for correlation heatmaps and salary distribution plots to understand data patterns and relationships.</a:t>
            </a:r>
            <a:endParaRPr lang="en-US" sz="1650" dirty="0"/>
          </a:p>
        </p:txBody>
      </p:sp>
      <p:sp>
        <p:nvSpPr>
          <p:cNvPr id="5" name="Shape 2"/>
          <p:cNvSpPr/>
          <p:nvPr/>
        </p:nvSpPr>
        <p:spPr>
          <a:xfrm>
            <a:off x="753427" y="3209687"/>
            <a:ext cx="3716417" cy="2582823"/>
          </a:xfrm>
          <a:prstGeom prst="roundRect">
            <a:avLst>
              <a:gd name="adj" fmla="val 3501"/>
            </a:avLst>
          </a:prstGeom>
          <a:solidFill>
            <a:srgbClr val="E1C2C2">
              <a:alpha val="50000"/>
            </a:srgbClr>
          </a:solidFill>
          <a:ln w="7620">
            <a:solidFill>
              <a:srgbClr val="C7A8A8"/>
            </a:solidFill>
            <a:prstDash val="solid"/>
          </a:ln>
          <a:effectLst>
            <a:outerShdw dist="19050" dir="2700000" algn="bl" rotWithShape="0">
              <a:srgbClr val="C7A8A8">
                <a:alpha val="100000"/>
              </a:srgbClr>
            </a:outerShdw>
          </a:effectLst>
        </p:spPr>
      </p:sp>
      <p:sp>
        <p:nvSpPr>
          <p:cNvPr id="6" name="Text 3"/>
          <p:cNvSpPr/>
          <p:nvPr/>
        </p:nvSpPr>
        <p:spPr>
          <a:xfrm>
            <a:off x="976312" y="3432572"/>
            <a:ext cx="2690812" cy="336352"/>
          </a:xfrm>
          <a:prstGeom prst="rect">
            <a:avLst/>
          </a:prstGeom>
          <a:noFill/>
        </p:spPr>
        <p:txBody>
          <a:bodyPr wrap="none" lIns="0" tIns="0" rIns="0" bIns="0" rtlCol="0" anchor="t"/>
          <a:lstStyle/>
          <a:p>
            <a:pPr marL="0" indent="0" algn="l">
              <a:lnSpc>
                <a:spcPts val="2600"/>
              </a:lnSpc>
              <a:buNone/>
            </a:pPr>
            <a:r>
              <a:rPr lang="en-US" sz="2100" dirty="0">
                <a:solidFill>
                  <a:srgbClr val="000000"/>
                </a:solidFill>
                <a:latin typeface="Playfair Display Semi Bold" pitchFamily="34" charset="0"/>
                <a:ea typeface="Playfair Display Semi Bold" pitchFamily="34" charset="-122"/>
                <a:cs typeface="Playfair Display Semi Bold" pitchFamily="34" charset="-120"/>
              </a:rPr>
              <a:t>Correlation Analysis</a:t>
            </a:r>
            <a:endParaRPr lang="en-US" sz="2100" dirty="0"/>
          </a:p>
        </p:txBody>
      </p:sp>
      <p:sp>
        <p:nvSpPr>
          <p:cNvPr id="7" name="Text 4"/>
          <p:cNvSpPr/>
          <p:nvPr/>
        </p:nvSpPr>
        <p:spPr>
          <a:xfrm>
            <a:off x="976312" y="3891439"/>
            <a:ext cx="3270647" cy="1678186"/>
          </a:xfrm>
          <a:prstGeom prst="rect">
            <a:avLst/>
          </a:prstGeom>
          <a:noFill/>
        </p:spPr>
        <p:txBody>
          <a:bodyPr wrap="square" lIns="0" tIns="0" rIns="0" bIns="0" rtlCol="0" anchor="t"/>
          <a:lstStyle/>
          <a:p>
            <a:pPr marL="0" indent="0" algn="l">
              <a:lnSpc>
                <a:spcPts val="2600"/>
              </a:lnSpc>
              <a:buNone/>
            </a:pPr>
            <a:r>
              <a:rPr lang="en-US" sz="1650" dirty="0">
                <a:solidFill>
                  <a:srgbClr val="000000"/>
                </a:solidFill>
                <a:latin typeface="Public Sans" pitchFamily="34" charset="0"/>
                <a:ea typeface="Public Sans" pitchFamily="34" charset="-122"/>
                <a:cs typeface="Public Sans" pitchFamily="34" charset="-120"/>
              </a:rPr>
              <a:t>Seaborn heatmaps revealed strong relationships between experience years and salary, moderate correlations with education level</a:t>
            </a:r>
            <a:endParaRPr lang="en-US" sz="1650" dirty="0"/>
          </a:p>
        </p:txBody>
      </p:sp>
      <p:sp>
        <p:nvSpPr>
          <p:cNvPr id="8" name="Shape 5"/>
          <p:cNvSpPr/>
          <p:nvPr/>
        </p:nvSpPr>
        <p:spPr>
          <a:xfrm>
            <a:off x="4674037" y="3209687"/>
            <a:ext cx="3716536" cy="2582823"/>
          </a:xfrm>
          <a:prstGeom prst="roundRect">
            <a:avLst>
              <a:gd name="adj" fmla="val 3501"/>
            </a:avLst>
          </a:prstGeom>
          <a:solidFill>
            <a:srgbClr val="CCC4EC">
              <a:alpha val="50000"/>
            </a:srgbClr>
          </a:solidFill>
          <a:ln w="7620">
            <a:solidFill>
              <a:srgbClr val="B2AAD2"/>
            </a:solidFill>
            <a:prstDash val="solid"/>
          </a:ln>
          <a:effectLst>
            <a:outerShdw dist="19050" dir="2700000" algn="bl" rotWithShape="0">
              <a:srgbClr val="B2AAD2">
                <a:alpha val="100000"/>
              </a:srgbClr>
            </a:outerShdw>
          </a:effectLst>
        </p:spPr>
      </p:sp>
      <p:sp>
        <p:nvSpPr>
          <p:cNvPr id="9" name="Text 6"/>
          <p:cNvSpPr/>
          <p:nvPr/>
        </p:nvSpPr>
        <p:spPr>
          <a:xfrm>
            <a:off x="4896922" y="3432572"/>
            <a:ext cx="2690812" cy="336352"/>
          </a:xfrm>
          <a:prstGeom prst="rect">
            <a:avLst/>
          </a:prstGeom>
          <a:noFill/>
        </p:spPr>
        <p:txBody>
          <a:bodyPr wrap="none" lIns="0" tIns="0" rIns="0" bIns="0" rtlCol="0" anchor="t"/>
          <a:lstStyle/>
          <a:p>
            <a:pPr marL="0" indent="0" algn="l">
              <a:lnSpc>
                <a:spcPts val="2600"/>
              </a:lnSpc>
              <a:buNone/>
            </a:pPr>
            <a:r>
              <a:rPr lang="en-US" sz="2100" dirty="0">
                <a:solidFill>
                  <a:srgbClr val="000000"/>
                </a:solidFill>
                <a:latin typeface="Playfair Display Semi Bold" pitchFamily="34" charset="0"/>
                <a:ea typeface="Playfair Display Semi Bold" pitchFamily="34" charset="-122"/>
                <a:cs typeface="Playfair Display Semi Bold" pitchFamily="34" charset="-120"/>
              </a:rPr>
              <a:t>Distribution Insights</a:t>
            </a:r>
            <a:endParaRPr lang="en-US" sz="2100" dirty="0"/>
          </a:p>
        </p:txBody>
      </p:sp>
      <p:sp>
        <p:nvSpPr>
          <p:cNvPr id="10" name="Text 7"/>
          <p:cNvSpPr/>
          <p:nvPr/>
        </p:nvSpPr>
        <p:spPr>
          <a:xfrm>
            <a:off x="4896922" y="3891439"/>
            <a:ext cx="3270766" cy="1678186"/>
          </a:xfrm>
          <a:prstGeom prst="rect">
            <a:avLst/>
          </a:prstGeom>
          <a:noFill/>
        </p:spPr>
        <p:txBody>
          <a:bodyPr wrap="square" lIns="0" tIns="0" rIns="0" bIns="0" rtlCol="0" anchor="t"/>
          <a:lstStyle/>
          <a:p>
            <a:pPr marL="0" indent="0" algn="l">
              <a:lnSpc>
                <a:spcPts val="2600"/>
              </a:lnSpc>
              <a:buNone/>
            </a:pPr>
            <a:r>
              <a:rPr lang="en-US" sz="1650" dirty="0">
                <a:solidFill>
                  <a:srgbClr val="000000"/>
                </a:solidFill>
                <a:latin typeface="Public Sans" pitchFamily="34" charset="0"/>
                <a:ea typeface="Public Sans" pitchFamily="34" charset="-122"/>
                <a:cs typeface="Public Sans" pitchFamily="34" charset="-120"/>
              </a:rPr>
              <a:t>Salary distributions showed right-skewed patterns, indicating premium compensation for specialized skills and senior roles</a:t>
            </a:r>
            <a:endParaRPr lang="en-US" sz="1650" dirty="0"/>
          </a:p>
        </p:txBody>
      </p:sp>
      <p:sp>
        <p:nvSpPr>
          <p:cNvPr id="11" name="Shape 8"/>
          <p:cNvSpPr/>
          <p:nvPr/>
        </p:nvSpPr>
        <p:spPr>
          <a:xfrm>
            <a:off x="753427" y="5996702"/>
            <a:ext cx="7637145" cy="1575911"/>
          </a:xfrm>
          <a:prstGeom prst="roundRect">
            <a:avLst>
              <a:gd name="adj" fmla="val 5737"/>
            </a:avLst>
          </a:prstGeom>
          <a:solidFill>
            <a:srgbClr val="B4DAE4">
              <a:alpha val="50000"/>
            </a:srgbClr>
          </a:solidFill>
          <a:ln w="7620">
            <a:solidFill>
              <a:srgbClr val="9AC0CA"/>
            </a:solidFill>
            <a:prstDash val="solid"/>
          </a:ln>
          <a:effectLst>
            <a:outerShdw dist="19050" dir="2700000" algn="bl" rotWithShape="0">
              <a:srgbClr val="9AC0CA">
                <a:alpha val="100000"/>
              </a:srgbClr>
            </a:outerShdw>
          </a:effectLst>
        </p:spPr>
      </p:sp>
      <p:sp>
        <p:nvSpPr>
          <p:cNvPr id="12" name="Text 9"/>
          <p:cNvSpPr/>
          <p:nvPr/>
        </p:nvSpPr>
        <p:spPr>
          <a:xfrm>
            <a:off x="976312" y="6219587"/>
            <a:ext cx="2690812" cy="336352"/>
          </a:xfrm>
          <a:prstGeom prst="rect">
            <a:avLst/>
          </a:prstGeom>
          <a:noFill/>
        </p:spPr>
        <p:txBody>
          <a:bodyPr wrap="none" lIns="0" tIns="0" rIns="0" bIns="0" rtlCol="0" anchor="t"/>
          <a:lstStyle/>
          <a:p>
            <a:pPr marL="0" indent="0" algn="l">
              <a:lnSpc>
                <a:spcPts val="2600"/>
              </a:lnSpc>
              <a:buNone/>
            </a:pPr>
            <a:r>
              <a:rPr lang="en-US" sz="2100" dirty="0">
                <a:solidFill>
                  <a:srgbClr val="000000"/>
                </a:solidFill>
                <a:latin typeface="Playfair Display Semi Bold" pitchFamily="34" charset="0"/>
                <a:ea typeface="Playfair Display Semi Bold" pitchFamily="34" charset="-122"/>
                <a:cs typeface="Playfair Display Semi Bold" pitchFamily="34" charset="-120"/>
              </a:rPr>
              <a:t>Feature Engineering</a:t>
            </a:r>
            <a:endParaRPr lang="en-US" sz="2100" dirty="0"/>
          </a:p>
        </p:txBody>
      </p:sp>
      <p:sp>
        <p:nvSpPr>
          <p:cNvPr id="13" name="Text 10"/>
          <p:cNvSpPr/>
          <p:nvPr/>
        </p:nvSpPr>
        <p:spPr>
          <a:xfrm>
            <a:off x="976312" y="6678454"/>
            <a:ext cx="7191375" cy="671274"/>
          </a:xfrm>
          <a:prstGeom prst="rect">
            <a:avLst/>
          </a:prstGeom>
          <a:noFill/>
        </p:spPr>
        <p:txBody>
          <a:bodyPr wrap="square" lIns="0" tIns="0" rIns="0" bIns="0" rtlCol="0" anchor="t"/>
          <a:lstStyle/>
          <a:p>
            <a:pPr marL="0" indent="0" algn="l">
              <a:lnSpc>
                <a:spcPts val="2600"/>
              </a:lnSpc>
              <a:buNone/>
            </a:pPr>
            <a:r>
              <a:rPr lang="en-US" sz="1650" dirty="0">
                <a:solidFill>
                  <a:srgbClr val="000000"/>
                </a:solidFill>
                <a:latin typeface="Public Sans" pitchFamily="34" charset="0"/>
                <a:ea typeface="Public Sans" pitchFamily="34" charset="-122"/>
                <a:cs typeface="Public Sans" pitchFamily="34" charset="-120"/>
              </a:rPr>
              <a:t>Identified key predictors including years of experience, education level, and job title categories for model training</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30705" y="564713"/>
            <a:ext cx="5721787" cy="496729"/>
          </a:xfrm>
          <a:prstGeom prst="rect">
            <a:avLst/>
          </a:prstGeom>
          <a:noFill/>
        </p:spPr>
        <p:txBody>
          <a:bodyPr wrap="none" lIns="0" tIns="0" rIns="0" bIns="0" rtlCol="0" anchor="t"/>
          <a:lstStyle/>
          <a:p>
            <a:pPr marL="0" indent="0" algn="l">
              <a:lnSpc>
                <a:spcPts val="3900"/>
              </a:lnSpc>
              <a:buNone/>
            </a:pPr>
            <a:r>
              <a:rPr lang="en-US" sz="3100" dirty="0">
                <a:solidFill>
                  <a:srgbClr val="4B6981"/>
                </a:solidFill>
                <a:latin typeface="Playfair Display Semi Bold" pitchFamily="34" charset="0"/>
                <a:ea typeface="Playfair Display Semi Bold" pitchFamily="34" charset="-122"/>
                <a:cs typeface="Playfair Display Semi Bold" pitchFamily="34" charset="-120"/>
              </a:rPr>
              <a:t>Interactive System Architecture</a:t>
            </a:r>
            <a:endParaRPr lang="en-US" sz="3100" dirty="0"/>
          </a:p>
        </p:txBody>
      </p:sp>
      <p:pic>
        <p:nvPicPr>
          <p:cNvPr id="3" name="Image 0" descr="preencoded.png"/>
          <p:cNvPicPr>
            <a:picLocks noChangeAspect="1"/>
          </p:cNvPicPr>
          <p:nvPr/>
        </p:nvPicPr>
        <p:blipFill>
          <a:blip r:embed="rId1"/>
          <a:stretch>
            <a:fillRect/>
          </a:stretch>
        </p:blipFill>
        <p:spPr>
          <a:xfrm>
            <a:off x="1830705" y="1353741"/>
            <a:ext cx="6994088" cy="3903583"/>
          </a:xfrm>
          <a:prstGeom prst="rect">
            <a:avLst/>
          </a:prstGeom>
        </p:spPr>
      </p:pic>
      <p:sp>
        <p:nvSpPr>
          <p:cNvPr id="4" name="Text 1"/>
          <p:cNvSpPr/>
          <p:nvPr/>
        </p:nvSpPr>
        <p:spPr>
          <a:xfrm>
            <a:off x="9220081" y="2299454"/>
            <a:ext cx="2397800" cy="298013"/>
          </a:xfrm>
          <a:prstGeom prst="rect">
            <a:avLst/>
          </a:prstGeom>
          <a:noFill/>
        </p:spPr>
        <p:txBody>
          <a:bodyPr wrap="none" lIns="0" tIns="0" rIns="0" bIns="0" rtlCol="0" anchor="t"/>
          <a:lstStyle/>
          <a:p>
            <a:pPr marL="0" indent="0" algn="l">
              <a:lnSpc>
                <a:spcPts val="2300"/>
              </a:lnSpc>
              <a:buNone/>
            </a:pPr>
            <a:r>
              <a:rPr lang="en-US" sz="1850" dirty="0">
                <a:solidFill>
                  <a:srgbClr val="4B6981"/>
                </a:solidFill>
                <a:latin typeface="Playfair Display Semi Bold" pitchFamily="34" charset="0"/>
                <a:ea typeface="Playfair Display Semi Bold" pitchFamily="34" charset="-122"/>
                <a:cs typeface="Playfair Display Semi Bold" pitchFamily="34" charset="-120"/>
              </a:rPr>
              <a:t>Main Interactive Loop</a:t>
            </a:r>
            <a:endParaRPr lang="en-US" sz="1850" dirty="0"/>
          </a:p>
        </p:txBody>
      </p:sp>
      <p:sp>
        <p:nvSpPr>
          <p:cNvPr id="5" name="Text 2"/>
          <p:cNvSpPr/>
          <p:nvPr/>
        </p:nvSpPr>
        <p:spPr>
          <a:xfrm>
            <a:off x="9220081" y="2708791"/>
            <a:ext cx="3587115" cy="648653"/>
          </a:xfrm>
          <a:prstGeom prst="rect">
            <a:avLst/>
          </a:prstGeom>
          <a:noFill/>
        </p:spPr>
        <p:txBody>
          <a:bodyPr wrap="square" lIns="0" tIns="0" rIns="0" bIns="0" rtlCol="0" anchor="t"/>
          <a:lstStyle/>
          <a:p>
            <a:pPr marL="0" indent="0" algn="l">
              <a:lnSpc>
                <a:spcPts val="1700"/>
              </a:lnSpc>
              <a:buNone/>
            </a:pPr>
            <a:r>
              <a:rPr lang="en-US" sz="1250" dirty="0">
                <a:solidFill>
                  <a:srgbClr val="6F655D"/>
                </a:solidFill>
                <a:latin typeface="Public Sans" pitchFamily="34" charset="0"/>
                <a:ea typeface="Public Sans" pitchFamily="34" charset="-122"/>
                <a:cs typeface="Public Sans" pitchFamily="34" charset="-120"/>
              </a:rPr>
              <a:t>The system features a real-time interface allowing users to dynamically add training data or request instant salary predictions.</a:t>
            </a:r>
            <a:endParaRPr lang="en-US" sz="1250" dirty="0"/>
          </a:p>
        </p:txBody>
      </p:sp>
      <p:sp>
        <p:nvSpPr>
          <p:cNvPr id="6" name="Text 3"/>
          <p:cNvSpPr/>
          <p:nvPr/>
        </p:nvSpPr>
        <p:spPr>
          <a:xfrm>
            <a:off x="9220081" y="3457694"/>
            <a:ext cx="3587115" cy="864870"/>
          </a:xfrm>
          <a:prstGeom prst="rect">
            <a:avLst/>
          </a:prstGeom>
          <a:noFill/>
        </p:spPr>
        <p:txBody>
          <a:bodyPr wrap="square" lIns="0" tIns="0" rIns="0" bIns="0" rtlCol="0" anchor="t"/>
          <a:lstStyle/>
          <a:p>
            <a:pPr marL="0" indent="0" algn="l">
              <a:lnSpc>
                <a:spcPts val="1700"/>
              </a:lnSpc>
              <a:buNone/>
            </a:pPr>
            <a:r>
              <a:rPr lang="en-US" sz="1250" dirty="0">
                <a:solidFill>
                  <a:srgbClr val="6F655D"/>
                </a:solidFill>
                <a:latin typeface="Public Sans" pitchFamily="34" charset="0"/>
                <a:ea typeface="Public Sans" pitchFamily="34" charset="-122"/>
                <a:cs typeface="Public Sans" pitchFamily="34" charset="-120"/>
              </a:rPr>
              <a:t>The loop continuously accepts user commands, processes input data, validates entries, and routes to appropriate functions—either data storage or prediction generation.</a:t>
            </a:r>
            <a:endParaRPr lang="en-US" sz="1250" dirty="0"/>
          </a:p>
        </p:txBody>
      </p:sp>
      <p:sp>
        <p:nvSpPr>
          <p:cNvPr id="7" name="Text 4"/>
          <p:cNvSpPr/>
          <p:nvPr/>
        </p:nvSpPr>
        <p:spPr>
          <a:xfrm>
            <a:off x="1830705" y="5507831"/>
            <a:ext cx="158948" cy="198596"/>
          </a:xfrm>
          <a:prstGeom prst="rect">
            <a:avLst/>
          </a:prstGeom>
          <a:noFill/>
        </p:spPr>
        <p:txBody>
          <a:bodyPr wrap="none" lIns="0" tIns="0" rIns="0" bIns="0" rtlCol="0" anchor="t"/>
          <a:lstStyle/>
          <a:p>
            <a:pPr marL="0" indent="0" algn="l">
              <a:lnSpc>
                <a:spcPts val="1700"/>
              </a:lnSpc>
              <a:buNone/>
            </a:pPr>
            <a:r>
              <a:rPr lang="en-US" sz="1250" dirty="0">
                <a:solidFill>
                  <a:srgbClr val="6F655D"/>
                </a:solidFill>
                <a:latin typeface="Playfair Display Light" pitchFamily="34" charset="0"/>
                <a:ea typeface="Playfair Display Light" pitchFamily="34" charset="-122"/>
                <a:cs typeface="Playfair Display Light" pitchFamily="34" charset="-120"/>
              </a:rPr>
              <a:t>01</a:t>
            </a:r>
            <a:endParaRPr lang="en-US" sz="1250" dirty="0"/>
          </a:p>
        </p:txBody>
      </p:sp>
      <p:sp>
        <p:nvSpPr>
          <p:cNvPr id="8" name="Shape 5"/>
          <p:cNvSpPr/>
          <p:nvPr/>
        </p:nvSpPr>
        <p:spPr>
          <a:xfrm>
            <a:off x="1830705" y="5755005"/>
            <a:ext cx="5428774" cy="22860"/>
          </a:xfrm>
          <a:prstGeom prst="rect">
            <a:avLst/>
          </a:prstGeom>
          <a:solidFill>
            <a:srgbClr val="E1C2C2"/>
          </a:solidFill>
        </p:spPr>
      </p:sp>
      <p:sp>
        <p:nvSpPr>
          <p:cNvPr id="9" name="Text 6"/>
          <p:cNvSpPr/>
          <p:nvPr/>
        </p:nvSpPr>
        <p:spPr>
          <a:xfrm>
            <a:off x="1830705" y="5880140"/>
            <a:ext cx="1987034" cy="248364"/>
          </a:xfrm>
          <a:prstGeom prst="rect">
            <a:avLst/>
          </a:prstGeom>
          <a:noFill/>
        </p:spPr>
        <p:txBody>
          <a:bodyPr wrap="none" lIns="0" tIns="0" rIns="0" bIns="0" rtlCol="0" anchor="t"/>
          <a:lstStyle/>
          <a:p>
            <a:pPr marL="0" indent="0" algn="l">
              <a:lnSpc>
                <a:spcPts val="1950"/>
              </a:lnSpc>
              <a:buNone/>
            </a:pPr>
            <a:r>
              <a:rPr lang="en-US" sz="1550" dirty="0">
                <a:solidFill>
                  <a:srgbClr val="6F655D"/>
                </a:solidFill>
                <a:latin typeface="Playfair Display Semi Bold" pitchFamily="34" charset="0"/>
                <a:ea typeface="Playfair Display Semi Bold" pitchFamily="34" charset="-122"/>
                <a:cs typeface="Playfair Display Semi Bold" pitchFamily="34" charset="-120"/>
              </a:rPr>
              <a:t>User Input Capture</a:t>
            </a:r>
            <a:endParaRPr lang="en-US" sz="1550" dirty="0"/>
          </a:p>
        </p:txBody>
      </p:sp>
      <p:sp>
        <p:nvSpPr>
          <p:cNvPr id="10" name="Text 7"/>
          <p:cNvSpPr/>
          <p:nvPr/>
        </p:nvSpPr>
        <p:spPr>
          <a:xfrm>
            <a:off x="1830705" y="6195298"/>
            <a:ext cx="5428774" cy="216218"/>
          </a:xfrm>
          <a:prstGeom prst="rect">
            <a:avLst/>
          </a:prstGeom>
          <a:noFill/>
        </p:spPr>
        <p:txBody>
          <a:bodyPr wrap="none" lIns="0" tIns="0" rIns="0" bIns="0" rtlCol="0" anchor="t"/>
          <a:lstStyle/>
          <a:p>
            <a:pPr marL="0" indent="0" algn="l">
              <a:lnSpc>
                <a:spcPts val="1700"/>
              </a:lnSpc>
              <a:buNone/>
            </a:pPr>
            <a:r>
              <a:rPr lang="en-US" sz="1250" dirty="0">
                <a:solidFill>
                  <a:srgbClr val="6F655D"/>
                </a:solidFill>
                <a:latin typeface="Public Sans" pitchFamily="34" charset="0"/>
                <a:ea typeface="Public Sans" pitchFamily="34" charset="-122"/>
                <a:cs typeface="Public Sans" pitchFamily="34" charset="-120"/>
              </a:rPr>
              <a:t>Accept education, experience, and job title from console or GUI</a:t>
            </a:r>
            <a:endParaRPr lang="en-US" sz="1250" dirty="0"/>
          </a:p>
        </p:txBody>
      </p:sp>
      <p:sp>
        <p:nvSpPr>
          <p:cNvPr id="11" name="Text 8"/>
          <p:cNvSpPr/>
          <p:nvPr/>
        </p:nvSpPr>
        <p:spPr>
          <a:xfrm>
            <a:off x="7370802" y="5507831"/>
            <a:ext cx="158948" cy="198596"/>
          </a:xfrm>
          <a:prstGeom prst="rect">
            <a:avLst/>
          </a:prstGeom>
          <a:noFill/>
        </p:spPr>
        <p:txBody>
          <a:bodyPr wrap="none" lIns="0" tIns="0" rIns="0" bIns="0" rtlCol="0" anchor="t"/>
          <a:lstStyle/>
          <a:p>
            <a:pPr marL="0" indent="0" algn="l">
              <a:lnSpc>
                <a:spcPts val="1700"/>
              </a:lnSpc>
              <a:buNone/>
            </a:pPr>
            <a:r>
              <a:rPr lang="en-US" sz="1250" dirty="0">
                <a:solidFill>
                  <a:srgbClr val="6F655D"/>
                </a:solidFill>
                <a:latin typeface="Playfair Display Light" pitchFamily="34" charset="0"/>
                <a:ea typeface="Playfair Display Light" pitchFamily="34" charset="-122"/>
                <a:cs typeface="Playfair Display Light" pitchFamily="34" charset="-120"/>
              </a:rPr>
              <a:t>02</a:t>
            </a:r>
            <a:endParaRPr lang="en-US" sz="1250" dirty="0"/>
          </a:p>
        </p:txBody>
      </p:sp>
      <p:sp>
        <p:nvSpPr>
          <p:cNvPr id="12" name="Shape 9"/>
          <p:cNvSpPr/>
          <p:nvPr/>
        </p:nvSpPr>
        <p:spPr>
          <a:xfrm>
            <a:off x="7370802" y="5755005"/>
            <a:ext cx="5428893" cy="22860"/>
          </a:xfrm>
          <a:prstGeom prst="rect">
            <a:avLst/>
          </a:prstGeom>
          <a:solidFill>
            <a:srgbClr val="CCC4EC"/>
          </a:solidFill>
        </p:spPr>
      </p:sp>
      <p:sp>
        <p:nvSpPr>
          <p:cNvPr id="13" name="Text 10"/>
          <p:cNvSpPr/>
          <p:nvPr/>
        </p:nvSpPr>
        <p:spPr>
          <a:xfrm>
            <a:off x="7370802" y="5880140"/>
            <a:ext cx="1987034" cy="248364"/>
          </a:xfrm>
          <a:prstGeom prst="rect">
            <a:avLst/>
          </a:prstGeom>
          <a:noFill/>
        </p:spPr>
        <p:txBody>
          <a:bodyPr wrap="none" lIns="0" tIns="0" rIns="0" bIns="0" rtlCol="0" anchor="t"/>
          <a:lstStyle/>
          <a:p>
            <a:pPr marL="0" indent="0" algn="l">
              <a:lnSpc>
                <a:spcPts val="1950"/>
              </a:lnSpc>
              <a:buNone/>
            </a:pPr>
            <a:r>
              <a:rPr lang="en-US" sz="1550" dirty="0">
                <a:solidFill>
                  <a:srgbClr val="6F655D"/>
                </a:solidFill>
                <a:latin typeface="Playfair Display Semi Bold" pitchFamily="34" charset="0"/>
                <a:ea typeface="Playfair Display Semi Bold" pitchFamily="34" charset="-122"/>
                <a:cs typeface="Playfair Display Semi Bold" pitchFamily="34" charset="-120"/>
              </a:rPr>
              <a:t>Data Validation</a:t>
            </a:r>
            <a:endParaRPr lang="en-US" sz="1550" dirty="0"/>
          </a:p>
        </p:txBody>
      </p:sp>
      <p:sp>
        <p:nvSpPr>
          <p:cNvPr id="14" name="Text 11"/>
          <p:cNvSpPr/>
          <p:nvPr/>
        </p:nvSpPr>
        <p:spPr>
          <a:xfrm>
            <a:off x="7370802" y="6195298"/>
            <a:ext cx="5428893" cy="216218"/>
          </a:xfrm>
          <a:prstGeom prst="rect">
            <a:avLst/>
          </a:prstGeom>
          <a:noFill/>
        </p:spPr>
        <p:txBody>
          <a:bodyPr wrap="none" lIns="0" tIns="0" rIns="0" bIns="0" rtlCol="0" anchor="t"/>
          <a:lstStyle/>
          <a:p>
            <a:pPr marL="0" indent="0" algn="l">
              <a:lnSpc>
                <a:spcPts val="1700"/>
              </a:lnSpc>
              <a:buNone/>
            </a:pPr>
            <a:r>
              <a:rPr lang="en-US" sz="1250" dirty="0">
                <a:solidFill>
                  <a:srgbClr val="6F655D"/>
                </a:solidFill>
                <a:latin typeface="Public Sans" pitchFamily="34" charset="0"/>
                <a:ea typeface="Public Sans" pitchFamily="34" charset="-122"/>
                <a:cs typeface="Public Sans" pitchFamily="34" charset="-120"/>
              </a:rPr>
              <a:t>Check input formats and handle missing values gracefully</a:t>
            </a:r>
            <a:endParaRPr lang="en-US" sz="1250" dirty="0"/>
          </a:p>
        </p:txBody>
      </p:sp>
      <p:sp>
        <p:nvSpPr>
          <p:cNvPr id="15" name="Text 12"/>
          <p:cNvSpPr/>
          <p:nvPr/>
        </p:nvSpPr>
        <p:spPr>
          <a:xfrm>
            <a:off x="1830705" y="6642021"/>
            <a:ext cx="158948" cy="198596"/>
          </a:xfrm>
          <a:prstGeom prst="rect">
            <a:avLst/>
          </a:prstGeom>
          <a:noFill/>
        </p:spPr>
        <p:txBody>
          <a:bodyPr wrap="none" lIns="0" tIns="0" rIns="0" bIns="0" rtlCol="0" anchor="t"/>
          <a:lstStyle/>
          <a:p>
            <a:pPr marL="0" indent="0" algn="l">
              <a:lnSpc>
                <a:spcPts val="1700"/>
              </a:lnSpc>
              <a:buNone/>
            </a:pPr>
            <a:r>
              <a:rPr lang="en-US" sz="1250" dirty="0">
                <a:solidFill>
                  <a:srgbClr val="6F655D"/>
                </a:solidFill>
                <a:latin typeface="Playfair Display Light" pitchFamily="34" charset="0"/>
                <a:ea typeface="Playfair Display Light" pitchFamily="34" charset="-122"/>
                <a:cs typeface="Playfair Display Light" pitchFamily="34" charset="-120"/>
              </a:rPr>
              <a:t>03</a:t>
            </a:r>
            <a:endParaRPr lang="en-US" sz="1250" dirty="0"/>
          </a:p>
        </p:txBody>
      </p:sp>
      <p:sp>
        <p:nvSpPr>
          <p:cNvPr id="16" name="Shape 13"/>
          <p:cNvSpPr/>
          <p:nvPr/>
        </p:nvSpPr>
        <p:spPr>
          <a:xfrm>
            <a:off x="1830705" y="6889194"/>
            <a:ext cx="5428774" cy="22860"/>
          </a:xfrm>
          <a:prstGeom prst="rect">
            <a:avLst/>
          </a:prstGeom>
          <a:solidFill>
            <a:srgbClr val="B4DAE4"/>
          </a:solidFill>
        </p:spPr>
      </p:sp>
      <p:sp>
        <p:nvSpPr>
          <p:cNvPr id="17" name="Text 14"/>
          <p:cNvSpPr/>
          <p:nvPr/>
        </p:nvSpPr>
        <p:spPr>
          <a:xfrm>
            <a:off x="1830705" y="7014329"/>
            <a:ext cx="1987034" cy="248364"/>
          </a:xfrm>
          <a:prstGeom prst="rect">
            <a:avLst/>
          </a:prstGeom>
          <a:noFill/>
        </p:spPr>
        <p:txBody>
          <a:bodyPr wrap="none" lIns="0" tIns="0" rIns="0" bIns="0" rtlCol="0" anchor="t"/>
          <a:lstStyle/>
          <a:p>
            <a:pPr marL="0" indent="0" algn="l">
              <a:lnSpc>
                <a:spcPts val="1950"/>
              </a:lnSpc>
              <a:buNone/>
            </a:pPr>
            <a:r>
              <a:rPr lang="en-US" sz="1550" dirty="0">
                <a:solidFill>
                  <a:srgbClr val="6F655D"/>
                </a:solidFill>
                <a:latin typeface="Playfair Display Semi Bold" pitchFamily="34" charset="0"/>
                <a:ea typeface="Playfair Display Semi Bold" pitchFamily="34" charset="-122"/>
                <a:cs typeface="Playfair Display Semi Bold" pitchFamily="34" charset="-120"/>
              </a:rPr>
              <a:t>Model Processing</a:t>
            </a:r>
            <a:endParaRPr lang="en-US" sz="1550" dirty="0"/>
          </a:p>
        </p:txBody>
      </p:sp>
      <p:sp>
        <p:nvSpPr>
          <p:cNvPr id="18" name="Text 15"/>
          <p:cNvSpPr/>
          <p:nvPr/>
        </p:nvSpPr>
        <p:spPr>
          <a:xfrm>
            <a:off x="1830705" y="7329488"/>
            <a:ext cx="5428774" cy="216218"/>
          </a:xfrm>
          <a:prstGeom prst="rect">
            <a:avLst/>
          </a:prstGeom>
          <a:noFill/>
        </p:spPr>
        <p:txBody>
          <a:bodyPr wrap="none" lIns="0" tIns="0" rIns="0" bIns="0" rtlCol="0" anchor="t"/>
          <a:lstStyle/>
          <a:p>
            <a:pPr marL="0" indent="0" algn="l">
              <a:lnSpc>
                <a:spcPts val="1700"/>
              </a:lnSpc>
              <a:buNone/>
            </a:pPr>
            <a:r>
              <a:rPr lang="en-US" sz="1250" dirty="0">
                <a:solidFill>
                  <a:srgbClr val="6F655D"/>
                </a:solidFill>
                <a:latin typeface="Public Sans" pitchFamily="34" charset="0"/>
                <a:ea typeface="Public Sans" pitchFamily="34" charset="-122"/>
                <a:cs typeface="Public Sans" pitchFamily="34" charset="-120"/>
              </a:rPr>
              <a:t>Transform categorical variables and scale numerical features</a:t>
            </a:r>
            <a:endParaRPr lang="en-US" sz="1250" dirty="0"/>
          </a:p>
        </p:txBody>
      </p:sp>
      <p:sp>
        <p:nvSpPr>
          <p:cNvPr id="19" name="Text 16"/>
          <p:cNvSpPr/>
          <p:nvPr/>
        </p:nvSpPr>
        <p:spPr>
          <a:xfrm>
            <a:off x="7370802" y="6642021"/>
            <a:ext cx="158948" cy="198596"/>
          </a:xfrm>
          <a:prstGeom prst="rect">
            <a:avLst/>
          </a:prstGeom>
          <a:noFill/>
        </p:spPr>
        <p:txBody>
          <a:bodyPr wrap="none" lIns="0" tIns="0" rIns="0" bIns="0" rtlCol="0" anchor="t"/>
          <a:lstStyle/>
          <a:p>
            <a:pPr marL="0" indent="0" algn="l">
              <a:lnSpc>
                <a:spcPts val="1700"/>
              </a:lnSpc>
              <a:buNone/>
            </a:pPr>
            <a:r>
              <a:rPr lang="en-US" sz="1250" dirty="0">
                <a:solidFill>
                  <a:srgbClr val="6F655D"/>
                </a:solidFill>
                <a:latin typeface="Playfair Display Light" pitchFamily="34" charset="0"/>
                <a:ea typeface="Playfair Display Light" pitchFamily="34" charset="-122"/>
                <a:cs typeface="Playfair Display Light" pitchFamily="34" charset="-120"/>
              </a:rPr>
              <a:t>04</a:t>
            </a:r>
            <a:endParaRPr lang="en-US" sz="1250" dirty="0"/>
          </a:p>
        </p:txBody>
      </p:sp>
      <p:sp>
        <p:nvSpPr>
          <p:cNvPr id="20" name="Shape 17"/>
          <p:cNvSpPr/>
          <p:nvPr/>
        </p:nvSpPr>
        <p:spPr>
          <a:xfrm>
            <a:off x="7370802" y="6889194"/>
            <a:ext cx="5428893" cy="22860"/>
          </a:xfrm>
          <a:prstGeom prst="rect">
            <a:avLst/>
          </a:prstGeom>
          <a:solidFill>
            <a:srgbClr val="E1C2C2"/>
          </a:solidFill>
        </p:spPr>
      </p:sp>
      <p:sp>
        <p:nvSpPr>
          <p:cNvPr id="21" name="Text 18"/>
          <p:cNvSpPr/>
          <p:nvPr/>
        </p:nvSpPr>
        <p:spPr>
          <a:xfrm>
            <a:off x="7370802" y="7014329"/>
            <a:ext cx="1987034" cy="248364"/>
          </a:xfrm>
          <a:prstGeom prst="rect">
            <a:avLst/>
          </a:prstGeom>
          <a:noFill/>
        </p:spPr>
        <p:txBody>
          <a:bodyPr wrap="none" lIns="0" tIns="0" rIns="0" bIns="0" rtlCol="0" anchor="t"/>
          <a:lstStyle/>
          <a:p>
            <a:pPr marL="0" indent="0" algn="l">
              <a:lnSpc>
                <a:spcPts val="1950"/>
              </a:lnSpc>
              <a:buNone/>
            </a:pPr>
            <a:r>
              <a:rPr lang="en-US" sz="1550" dirty="0">
                <a:solidFill>
                  <a:srgbClr val="6F655D"/>
                </a:solidFill>
                <a:latin typeface="Playfair Display Semi Bold" pitchFamily="34" charset="0"/>
                <a:ea typeface="Playfair Display Semi Bold" pitchFamily="34" charset="-122"/>
                <a:cs typeface="Playfair Display Semi Bold" pitchFamily="34" charset="-120"/>
              </a:rPr>
              <a:t>Result Generation</a:t>
            </a:r>
            <a:endParaRPr lang="en-US" sz="1550" dirty="0"/>
          </a:p>
        </p:txBody>
      </p:sp>
      <p:sp>
        <p:nvSpPr>
          <p:cNvPr id="22" name="Text 19"/>
          <p:cNvSpPr/>
          <p:nvPr/>
        </p:nvSpPr>
        <p:spPr>
          <a:xfrm>
            <a:off x="7370802" y="7329488"/>
            <a:ext cx="5428893" cy="216218"/>
          </a:xfrm>
          <a:prstGeom prst="rect">
            <a:avLst/>
          </a:prstGeom>
          <a:noFill/>
        </p:spPr>
        <p:txBody>
          <a:bodyPr wrap="none" lIns="0" tIns="0" rIns="0" bIns="0" rtlCol="0" anchor="t"/>
          <a:lstStyle/>
          <a:p>
            <a:pPr marL="0" indent="0" algn="l">
              <a:lnSpc>
                <a:spcPts val="1700"/>
              </a:lnSpc>
              <a:buNone/>
            </a:pPr>
            <a:r>
              <a:rPr lang="en-US" sz="1250" dirty="0">
                <a:solidFill>
                  <a:srgbClr val="6F655D"/>
                </a:solidFill>
                <a:latin typeface="Public Sans" pitchFamily="34" charset="0"/>
                <a:ea typeface="Public Sans" pitchFamily="34" charset="-122"/>
                <a:cs typeface="Public Sans" pitchFamily="34" charset="-120"/>
              </a:rPr>
              <a:t>Return predicted salary with confidence intervals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595360" y="0"/>
            <a:ext cx="6035040" cy="8229600"/>
          </a:xfrm>
          <a:prstGeom prst="rect">
            <a:avLst/>
          </a:prstGeom>
        </p:spPr>
      </p:pic>
      <p:sp>
        <p:nvSpPr>
          <p:cNvPr id="3" name="Text 0"/>
          <p:cNvSpPr/>
          <p:nvPr/>
        </p:nvSpPr>
        <p:spPr>
          <a:xfrm>
            <a:off x="540901" y="1211580"/>
            <a:ext cx="4636889" cy="482918"/>
          </a:xfrm>
          <a:prstGeom prst="rect">
            <a:avLst/>
          </a:prstGeom>
          <a:noFill/>
        </p:spPr>
        <p:txBody>
          <a:bodyPr wrap="none" lIns="0" tIns="0" rIns="0" bIns="0" rtlCol="0" anchor="t"/>
          <a:lstStyle/>
          <a:p>
            <a:pPr marL="0" indent="0" algn="l">
              <a:lnSpc>
                <a:spcPts val="3800"/>
              </a:lnSpc>
              <a:buNone/>
            </a:pPr>
            <a:r>
              <a:rPr lang="en-US" sz="3000" dirty="0">
                <a:solidFill>
                  <a:srgbClr val="4B6981"/>
                </a:solidFill>
                <a:latin typeface="Playfair Display Semi Bold" pitchFamily="34" charset="0"/>
                <a:ea typeface="Playfair Display Semi Bold" pitchFamily="34" charset="-122"/>
                <a:cs typeface="Playfair Display Semi Bold" pitchFamily="34" charset="-120"/>
              </a:rPr>
              <a:t>Making Salary Predictions</a:t>
            </a:r>
            <a:endParaRPr lang="en-US" sz="3000" dirty="0"/>
          </a:p>
        </p:txBody>
      </p:sp>
      <p:sp>
        <p:nvSpPr>
          <p:cNvPr id="4" name="Text 1"/>
          <p:cNvSpPr/>
          <p:nvPr/>
        </p:nvSpPr>
        <p:spPr>
          <a:xfrm>
            <a:off x="540901" y="1852374"/>
            <a:ext cx="8062198" cy="423148"/>
          </a:xfrm>
          <a:prstGeom prst="rect">
            <a:avLst/>
          </a:prstGeom>
          <a:noFill/>
        </p:spPr>
        <p:txBody>
          <a:bodyPr wrap="square" lIns="0" tIns="0" rIns="0" bIns="0" rtlCol="0" anchor="t"/>
          <a:lstStyle/>
          <a:p>
            <a:pPr marL="0" indent="0" algn="l">
              <a:lnSpc>
                <a:spcPts val="1600"/>
              </a:lnSpc>
              <a:buNone/>
            </a:pPr>
            <a:r>
              <a:rPr lang="en-US" sz="1200" dirty="0">
                <a:solidFill>
                  <a:srgbClr val="6F655D"/>
                </a:solidFill>
                <a:latin typeface="Public Sans" pitchFamily="34" charset="0"/>
                <a:ea typeface="Public Sans" pitchFamily="34" charset="-122"/>
                <a:cs typeface="Public Sans" pitchFamily="34" charset="-120"/>
              </a:rPr>
              <a:t>The trained model processes user-provided features through the </a:t>
            </a:r>
            <a:r>
              <a:rPr lang="en-US" sz="1200" dirty="0">
                <a:solidFill>
                  <a:srgbClr val="6F655D"/>
                </a:solidFill>
                <a:highlight>
                  <a:srgbClr val="F2EDE9"/>
                </a:highlight>
                <a:latin typeface="Consolas" panose="020B0609020204030204" pitchFamily="34" charset="0"/>
                <a:ea typeface="Consolas" panose="020B0609020204030204" pitchFamily="34" charset="-122"/>
                <a:cs typeface="Consolas" panose="020B0609020204030204" pitchFamily="34" charset="-120"/>
              </a:rPr>
              <a:t>model.predict()</a:t>
            </a:r>
            <a:r>
              <a:rPr lang="en-US" sz="1200" dirty="0">
                <a:solidFill>
                  <a:srgbClr val="6F655D"/>
                </a:solidFill>
                <a:latin typeface="Public Sans" pitchFamily="34" charset="0"/>
                <a:ea typeface="Public Sans" pitchFamily="34" charset="-122"/>
                <a:cs typeface="Public Sans" pitchFamily="34" charset="-120"/>
              </a:rPr>
              <a:t> method to generate instant salary estimates.</a:t>
            </a:r>
            <a:endParaRPr lang="en-US" sz="1200" dirty="0"/>
          </a:p>
        </p:txBody>
      </p:sp>
      <p:sp>
        <p:nvSpPr>
          <p:cNvPr id="5" name="Shape 2"/>
          <p:cNvSpPr/>
          <p:nvPr/>
        </p:nvSpPr>
        <p:spPr>
          <a:xfrm>
            <a:off x="540901" y="2393990"/>
            <a:ext cx="8062198" cy="1074896"/>
          </a:xfrm>
          <a:prstGeom prst="roundRect">
            <a:avLst>
              <a:gd name="adj" fmla="val 10208"/>
            </a:avLst>
          </a:prstGeom>
          <a:solidFill>
            <a:srgbClr val="FFFAF6"/>
          </a:solidFill>
          <a:ln w="22860">
            <a:solidFill>
              <a:srgbClr val="E1C2C2"/>
            </a:solidFill>
            <a:prstDash val="solid"/>
          </a:ln>
          <a:effectLst>
            <a:outerShdw dist="13970" dir="2700000" algn="bl" rotWithShape="0">
              <a:srgbClr val="E1C2C2">
                <a:alpha val="100000"/>
              </a:srgbClr>
            </a:outerShdw>
          </a:effectLst>
        </p:spPr>
      </p:sp>
      <p:sp>
        <p:nvSpPr>
          <p:cNvPr id="6" name="Shape 3"/>
          <p:cNvSpPr/>
          <p:nvPr/>
        </p:nvSpPr>
        <p:spPr>
          <a:xfrm>
            <a:off x="518041" y="2393990"/>
            <a:ext cx="91440" cy="1074896"/>
          </a:xfrm>
          <a:prstGeom prst="roundRect">
            <a:avLst>
              <a:gd name="adj" fmla="val 70991"/>
            </a:avLst>
          </a:prstGeom>
          <a:solidFill>
            <a:srgbClr val="E1C2C2"/>
          </a:solidFill>
        </p:spPr>
      </p:sp>
      <p:sp>
        <p:nvSpPr>
          <p:cNvPr id="7" name="Text 4"/>
          <p:cNvSpPr/>
          <p:nvPr/>
        </p:nvSpPr>
        <p:spPr>
          <a:xfrm>
            <a:off x="786884" y="2571393"/>
            <a:ext cx="1931908" cy="241459"/>
          </a:xfrm>
          <a:prstGeom prst="rect">
            <a:avLst/>
          </a:prstGeom>
          <a:noFill/>
        </p:spPr>
        <p:txBody>
          <a:bodyPr wrap="none" lIns="0" tIns="0" rIns="0" bIns="0" rtlCol="0" anchor="t"/>
          <a:lstStyle/>
          <a:p>
            <a:pPr marL="0" indent="0" algn="l">
              <a:lnSpc>
                <a:spcPts val="1900"/>
              </a:lnSpc>
              <a:buNone/>
            </a:pPr>
            <a:r>
              <a:rPr lang="en-US" sz="1500" dirty="0">
                <a:solidFill>
                  <a:srgbClr val="6F655D"/>
                </a:solidFill>
                <a:latin typeface="Playfair Display Semi Bold" pitchFamily="34" charset="0"/>
                <a:ea typeface="Playfair Display Semi Bold" pitchFamily="34" charset="-122"/>
                <a:cs typeface="Playfair Display Semi Bold" pitchFamily="34" charset="-120"/>
              </a:rPr>
              <a:t>Input Preparation</a:t>
            </a:r>
            <a:endParaRPr lang="en-US" sz="1500" dirty="0"/>
          </a:p>
        </p:txBody>
      </p:sp>
      <p:sp>
        <p:nvSpPr>
          <p:cNvPr id="8" name="Text 5"/>
          <p:cNvSpPr/>
          <p:nvPr/>
        </p:nvSpPr>
        <p:spPr>
          <a:xfrm>
            <a:off x="786884" y="2875955"/>
            <a:ext cx="7638812" cy="415528"/>
          </a:xfrm>
          <a:prstGeom prst="rect">
            <a:avLst/>
          </a:prstGeom>
          <a:noFill/>
        </p:spPr>
        <p:txBody>
          <a:bodyPr wrap="square" lIns="0" tIns="0" rIns="0" bIns="0" rtlCol="0" anchor="t"/>
          <a:lstStyle/>
          <a:p>
            <a:pPr marL="0" indent="0" algn="l">
              <a:lnSpc>
                <a:spcPts val="1600"/>
              </a:lnSpc>
              <a:buNone/>
            </a:pPr>
            <a:r>
              <a:rPr lang="en-US" sz="1200" dirty="0">
                <a:solidFill>
                  <a:srgbClr val="6F655D"/>
                </a:solidFill>
                <a:latin typeface="Public Sans" pitchFamily="34" charset="0"/>
                <a:ea typeface="Public Sans" pitchFamily="34" charset="-122"/>
                <a:cs typeface="Public Sans" pitchFamily="34" charset="-120"/>
              </a:rPr>
              <a:t>Convert categorical data (education level, job title) into numerical format using encoding techniques. Scale numerical features like experience years.</a:t>
            </a:r>
            <a:endParaRPr lang="en-US" sz="1200" dirty="0"/>
          </a:p>
        </p:txBody>
      </p:sp>
      <p:sp>
        <p:nvSpPr>
          <p:cNvPr id="9" name="Shape 6"/>
          <p:cNvSpPr/>
          <p:nvPr/>
        </p:nvSpPr>
        <p:spPr>
          <a:xfrm>
            <a:off x="540901" y="3574137"/>
            <a:ext cx="8062198" cy="1082516"/>
          </a:xfrm>
          <a:prstGeom prst="roundRect">
            <a:avLst>
              <a:gd name="adj" fmla="val 10136"/>
            </a:avLst>
          </a:prstGeom>
          <a:solidFill>
            <a:srgbClr val="FFFAF6"/>
          </a:solidFill>
          <a:ln w="22860">
            <a:solidFill>
              <a:srgbClr val="CCC4EC"/>
            </a:solidFill>
            <a:prstDash val="solid"/>
          </a:ln>
          <a:effectLst>
            <a:outerShdw dist="13970" dir="2700000" algn="bl" rotWithShape="0">
              <a:srgbClr val="CCC4EC">
                <a:alpha val="100000"/>
              </a:srgbClr>
            </a:outerShdw>
          </a:effectLst>
        </p:spPr>
      </p:sp>
      <p:sp>
        <p:nvSpPr>
          <p:cNvPr id="10" name="Shape 7"/>
          <p:cNvSpPr/>
          <p:nvPr/>
        </p:nvSpPr>
        <p:spPr>
          <a:xfrm>
            <a:off x="518041" y="3574137"/>
            <a:ext cx="91440" cy="1082516"/>
          </a:xfrm>
          <a:prstGeom prst="roundRect">
            <a:avLst>
              <a:gd name="adj" fmla="val 70991"/>
            </a:avLst>
          </a:prstGeom>
          <a:solidFill>
            <a:srgbClr val="CCC4EC"/>
          </a:solidFill>
        </p:spPr>
      </p:sp>
      <p:sp>
        <p:nvSpPr>
          <p:cNvPr id="11" name="Text 8"/>
          <p:cNvSpPr/>
          <p:nvPr/>
        </p:nvSpPr>
        <p:spPr>
          <a:xfrm>
            <a:off x="786884" y="3751540"/>
            <a:ext cx="1931908" cy="241459"/>
          </a:xfrm>
          <a:prstGeom prst="rect">
            <a:avLst/>
          </a:prstGeom>
          <a:noFill/>
        </p:spPr>
        <p:txBody>
          <a:bodyPr wrap="none" lIns="0" tIns="0" rIns="0" bIns="0" rtlCol="0" anchor="t"/>
          <a:lstStyle/>
          <a:p>
            <a:pPr marL="0" indent="0" algn="l">
              <a:lnSpc>
                <a:spcPts val="1900"/>
              </a:lnSpc>
              <a:buNone/>
            </a:pPr>
            <a:r>
              <a:rPr lang="en-US" sz="1500" dirty="0">
                <a:solidFill>
                  <a:srgbClr val="6F655D"/>
                </a:solidFill>
                <a:latin typeface="Playfair Display Semi Bold" pitchFamily="34" charset="0"/>
                <a:ea typeface="Playfair Display Semi Bold" pitchFamily="34" charset="-122"/>
                <a:cs typeface="Playfair Display Semi Bold" pitchFamily="34" charset="-120"/>
              </a:rPr>
              <a:t>Model Inference</a:t>
            </a:r>
            <a:endParaRPr lang="en-US" sz="1500" dirty="0"/>
          </a:p>
        </p:txBody>
      </p:sp>
      <p:sp>
        <p:nvSpPr>
          <p:cNvPr id="12" name="Text 9"/>
          <p:cNvSpPr/>
          <p:nvPr/>
        </p:nvSpPr>
        <p:spPr>
          <a:xfrm>
            <a:off x="786884" y="4056102"/>
            <a:ext cx="7638812" cy="423148"/>
          </a:xfrm>
          <a:prstGeom prst="rect">
            <a:avLst/>
          </a:prstGeom>
          <a:noFill/>
        </p:spPr>
        <p:txBody>
          <a:bodyPr wrap="square" lIns="0" tIns="0" rIns="0" bIns="0" rtlCol="0" anchor="t"/>
          <a:lstStyle/>
          <a:p>
            <a:pPr marL="0" indent="0" algn="l">
              <a:lnSpc>
                <a:spcPts val="1600"/>
              </a:lnSpc>
              <a:buNone/>
            </a:pPr>
            <a:r>
              <a:rPr lang="en-US" sz="1200" dirty="0">
                <a:solidFill>
                  <a:srgbClr val="6F655D"/>
                </a:solidFill>
                <a:latin typeface="Public Sans" pitchFamily="34" charset="0"/>
                <a:ea typeface="Public Sans" pitchFamily="34" charset="-122"/>
                <a:cs typeface="Public Sans" pitchFamily="34" charset="-120"/>
              </a:rPr>
              <a:t>Pass the transformed feature array to </a:t>
            </a:r>
            <a:r>
              <a:rPr lang="en-US" sz="1200" dirty="0">
                <a:solidFill>
                  <a:srgbClr val="6F655D"/>
                </a:solidFill>
                <a:highlight>
                  <a:srgbClr val="F2EDE9"/>
                </a:highlight>
                <a:latin typeface="Consolas" panose="020B0609020204030204" pitchFamily="34" charset="0"/>
                <a:ea typeface="Consolas" panose="020B0609020204030204" pitchFamily="34" charset="-122"/>
                <a:cs typeface="Consolas" panose="020B0609020204030204" pitchFamily="34" charset="-120"/>
              </a:rPr>
              <a:t>model.predict(new_data)</a:t>
            </a:r>
            <a:r>
              <a:rPr lang="en-US" sz="1200" dirty="0">
                <a:solidFill>
                  <a:srgbClr val="6F655D"/>
                </a:solidFill>
                <a:latin typeface="Public Sans" pitchFamily="34" charset="0"/>
                <a:ea typeface="Public Sans" pitchFamily="34" charset="-122"/>
                <a:cs typeface="Public Sans" pitchFamily="34" charset="-120"/>
              </a:rPr>
              <a:t> which applies learned patterns to estimate compensation.</a:t>
            </a:r>
            <a:endParaRPr lang="en-US" sz="1200" dirty="0"/>
          </a:p>
        </p:txBody>
      </p:sp>
      <p:sp>
        <p:nvSpPr>
          <p:cNvPr id="13" name="Shape 10"/>
          <p:cNvSpPr/>
          <p:nvPr/>
        </p:nvSpPr>
        <p:spPr>
          <a:xfrm>
            <a:off x="540901" y="4761905"/>
            <a:ext cx="8062198" cy="867132"/>
          </a:xfrm>
          <a:prstGeom prst="roundRect">
            <a:avLst>
              <a:gd name="adj" fmla="val 12654"/>
            </a:avLst>
          </a:prstGeom>
          <a:solidFill>
            <a:srgbClr val="FFFAF6"/>
          </a:solidFill>
          <a:ln w="22860">
            <a:solidFill>
              <a:srgbClr val="B4DAE4"/>
            </a:solidFill>
            <a:prstDash val="solid"/>
          </a:ln>
          <a:effectLst>
            <a:outerShdw dist="13970" dir="2700000" algn="bl" rotWithShape="0">
              <a:srgbClr val="B4DAE4">
                <a:alpha val="100000"/>
              </a:srgbClr>
            </a:outerShdw>
          </a:effectLst>
        </p:spPr>
      </p:sp>
      <p:sp>
        <p:nvSpPr>
          <p:cNvPr id="14" name="Shape 11"/>
          <p:cNvSpPr/>
          <p:nvPr/>
        </p:nvSpPr>
        <p:spPr>
          <a:xfrm>
            <a:off x="518041" y="4761905"/>
            <a:ext cx="91440" cy="867132"/>
          </a:xfrm>
          <a:prstGeom prst="roundRect">
            <a:avLst>
              <a:gd name="adj" fmla="val 70991"/>
            </a:avLst>
          </a:prstGeom>
          <a:solidFill>
            <a:srgbClr val="B4DAE4"/>
          </a:solidFill>
        </p:spPr>
      </p:sp>
      <p:sp>
        <p:nvSpPr>
          <p:cNvPr id="15" name="Text 12"/>
          <p:cNvSpPr/>
          <p:nvPr/>
        </p:nvSpPr>
        <p:spPr>
          <a:xfrm>
            <a:off x="786884" y="4939308"/>
            <a:ext cx="1931908" cy="241459"/>
          </a:xfrm>
          <a:prstGeom prst="rect">
            <a:avLst/>
          </a:prstGeom>
          <a:noFill/>
        </p:spPr>
        <p:txBody>
          <a:bodyPr wrap="none" lIns="0" tIns="0" rIns="0" bIns="0" rtlCol="0" anchor="t"/>
          <a:lstStyle/>
          <a:p>
            <a:pPr marL="0" indent="0" algn="l">
              <a:lnSpc>
                <a:spcPts val="1900"/>
              </a:lnSpc>
              <a:buNone/>
            </a:pPr>
            <a:r>
              <a:rPr lang="en-US" sz="1500" dirty="0">
                <a:solidFill>
                  <a:srgbClr val="6F655D"/>
                </a:solidFill>
                <a:latin typeface="Playfair Display Semi Bold" pitchFamily="34" charset="0"/>
                <a:ea typeface="Playfair Display Semi Bold" pitchFamily="34" charset="-122"/>
                <a:cs typeface="Playfair Display Semi Bold" pitchFamily="34" charset="-120"/>
              </a:rPr>
              <a:t>Result Delivery</a:t>
            </a:r>
            <a:endParaRPr lang="en-US" sz="1500" dirty="0"/>
          </a:p>
        </p:txBody>
      </p:sp>
      <p:sp>
        <p:nvSpPr>
          <p:cNvPr id="16" name="Text 13"/>
          <p:cNvSpPr/>
          <p:nvPr/>
        </p:nvSpPr>
        <p:spPr>
          <a:xfrm>
            <a:off x="786884" y="5243870"/>
            <a:ext cx="7638812" cy="207764"/>
          </a:xfrm>
          <a:prstGeom prst="rect">
            <a:avLst/>
          </a:prstGeom>
          <a:noFill/>
        </p:spPr>
        <p:txBody>
          <a:bodyPr wrap="none" lIns="0" tIns="0" rIns="0" bIns="0" rtlCol="0" anchor="t"/>
          <a:lstStyle/>
          <a:p>
            <a:pPr marL="0" indent="0" algn="l">
              <a:lnSpc>
                <a:spcPts val="1600"/>
              </a:lnSpc>
              <a:buNone/>
            </a:pPr>
            <a:r>
              <a:rPr lang="en-US" sz="1200" dirty="0">
                <a:solidFill>
                  <a:srgbClr val="6F655D"/>
                </a:solidFill>
                <a:latin typeface="Public Sans" pitchFamily="34" charset="0"/>
                <a:ea typeface="Public Sans" pitchFamily="34" charset="-122"/>
                <a:cs typeface="Public Sans" pitchFamily="34" charset="-120"/>
              </a:rPr>
              <a:t>Return predicted salary as float value, optionally with confidence intervals showing prediction reliability.</a:t>
            </a:r>
            <a:endParaRPr lang="en-US" sz="1200" dirty="0"/>
          </a:p>
        </p:txBody>
      </p:sp>
      <p:sp>
        <p:nvSpPr>
          <p:cNvPr id="17" name="Shape 14"/>
          <p:cNvSpPr/>
          <p:nvPr/>
        </p:nvSpPr>
        <p:spPr>
          <a:xfrm>
            <a:off x="540901" y="5747504"/>
            <a:ext cx="8062198" cy="1270516"/>
          </a:xfrm>
          <a:prstGeom prst="roundRect">
            <a:avLst>
              <a:gd name="adj" fmla="val 5109"/>
            </a:avLst>
          </a:prstGeom>
          <a:solidFill>
            <a:srgbClr val="F2EDE9"/>
          </a:solidFill>
        </p:spPr>
      </p:sp>
      <p:sp>
        <p:nvSpPr>
          <p:cNvPr id="18" name="Shape 15"/>
          <p:cNvSpPr/>
          <p:nvPr/>
        </p:nvSpPr>
        <p:spPr>
          <a:xfrm>
            <a:off x="533281" y="5747504"/>
            <a:ext cx="8077438" cy="1270516"/>
          </a:xfrm>
          <a:prstGeom prst="roundRect">
            <a:avLst>
              <a:gd name="adj" fmla="val 1825"/>
            </a:avLst>
          </a:prstGeom>
          <a:solidFill>
            <a:srgbClr val="F2EDE9"/>
          </a:solidFill>
        </p:spPr>
      </p:sp>
      <p:sp>
        <p:nvSpPr>
          <p:cNvPr id="19" name="Text 16"/>
          <p:cNvSpPr/>
          <p:nvPr/>
        </p:nvSpPr>
        <p:spPr>
          <a:xfrm>
            <a:off x="687824" y="5863352"/>
            <a:ext cx="7768352" cy="1038820"/>
          </a:xfrm>
          <a:prstGeom prst="rect">
            <a:avLst/>
          </a:prstGeom>
          <a:noFill/>
        </p:spPr>
        <p:txBody>
          <a:bodyPr wrap="square" lIns="0" tIns="0" rIns="0" bIns="0" rtlCol="0" anchor="t"/>
          <a:lstStyle/>
          <a:p>
            <a:pPr marL="0" indent="0" algn="l">
              <a:lnSpc>
                <a:spcPts val="1600"/>
              </a:lnSpc>
              <a:buNone/>
            </a:pPr>
            <a:r>
              <a:rPr lang="en-US" sz="1200" dirty="0">
                <a:solidFill>
                  <a:srgbClr val="6F655D"/>
                </a:solidFill>
                <a:highlight>
                  <a:srgbClr val="F2EDE9"/>
                </a:highlight>
                <a:latin typeface="Consolas" panose="020B0609020204030204" pitchFamily="34" charset="0"/>
                <a:ea typeface="Consolas" panose="020B0609020204030204" pitchFamily="34" charset="-122"/>
                <a:cs typeface="Consolas" panose="020B0609020204030204" pitchFamily="34" charset="-120"/>
              </a:rPr>
              <a:t># Sample prediction code
new_data = [[education_encoded, years_experience, job_title_encoded]]
predicted_salary = model.predict(new_data)
print(f"Predicted Salary: ₹{predicted_salary[0]:,.2f}")
</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595360" y="0"/>
            <a:ext cx="6035040" cy="8229600"/>
          </a:xfrm>
          <a:prstGeom prst="rect">
            <a:avLst/>
          </a:prstGeom>
        </p:spPr>
      </p:pic>
      <p:sp>
        <p:nvSpPr>
          <p:cNvPr id="3" name="Text 0"/>
          <p:cNvSpPr/>
          <p:nvPr/>
        </p:nvSpPr>
        <p:spPr>
          <a:xfrm>
            <a:off x="468273" y="1167051"/>
            <a:ext cx="4356378" cy="418028"/>
          </a:xfrm>
          <a:prstGeom prst="rect">
            <a:avLst/>
          </a:prstGeom>
          <a:noFill/>
        </p:spPr>
        <p:txBody>
          <a:bodyPr wrap="none" lIns="0" tIns="0" rIns="0" bIns="0" rtlCol="0" anchor="t"/>
          <a:lstStyle/>
          <a:p>
            <a:pPr marL="0" indent="0" algn="l">
              <a:lnSpc>
                <a:spcPts val="3250"/>
              </a:lnSpc>
              <a:buNone/>
            </a:pPr>
            <a:r>
              <a:rPr lang="en-US" sz="2600" dirty="0">
                <a:solidFill>
                  <a:srgbClr val="4B6981"/>
                </a:solidFill>
                <a:latin typeface="Playfair Display Semi Bold" pitchFamily="34" charset="0"/>
                <a:ea typeface="Playfair Display Semi Bold" pitchFamily="34" charset="-122"/>
                <a:cs typeface="Playfair Display Semi Bold" pitchFamily="34" charset="-120"/>
              </a:rPr>
              <a:t>Key Challenges Encountered</a:t>
            </a:r>
            <a:endParaRPr lang="en-US" sz="2600" dirty="0"/>
          </a:p>
        </p:txBody>
      </p:sp>
      <p:sp>
        <p:nvSpPr>
          <p:cNvPr id="4" name="Shape 1"/>
          <p:cNvSpPr/>
          <p:nvPr/>
        </p:nvSpPr>
        <p:spPr>
          <a:xfrm>
            <a:off x="468273" y="1904048"/>
            <a:ext cx="8207454" cy="1080016"/>
          </a:xfrm>
          <a:prstGeom prst="roundRect">
            <a:avLst>
              <a:gd name="adj" fmla="val 6773"/>
            </a:avLst>
          </a:prstGeom>
          <a:solidFill>
            <a:srgbClr val="FFFAF6"/>
          </a:solidFill>
          <a:effectLst>
            <a:outerShdw dist="11430" dir="2700000" algn="bl" rotWithShape="0">
              <a:srgbClr val="E1C2C2">
                <a:alpha val="100000"/>
              </a:srgbClr>
            </a:outerShdw>
          </a:effectLst>
        </p:spPr>
      </p:sp>
      <p:sp>
        <p:nvSpPr>
          <p:cNvPr id="5" name="Shape 2"/>
          <p:cNvSpPr/>
          <p:nvPr/>
        </p:nvSpPr>
        <p:spPr>
          <a:xfrm>
            <a:off x="468273" y="1888808"/>
            <a:ext cx="8207454" cy="60960"/>
          </a:xfrm>
          <a:prstGeom prst="roundRect">
            <a:avLst>
              <a:gd name="adj" fmla="val 92180"/>
            </a:avLst>
          </a:prstGeom>
          <a:solidFill>
            <a:srgbClr val="E1C2C2"/>
          </a:solidFill>
        </p:spPr>
      </p:sp>
      <p:sp>
        <p:nvSpPr>
          <p:cNvPr id="6" name="Shape 3"/>
          <p:cNvSpPr/>
          <p:nvPr/>
        </p:nvSpPr>
        <p:spPr>
          <a:xfrm>
            <a:off x="4371320" y="1703427"/>
            <a:ext cx="401360" cy="401360"/>
          </a:xfrm>
          <a:prstGeom prst="roundRect">
            <a:avLst>
              <a:gd name="adj" fmla="val 227825"/>
            </a:avLst>
          </a:prstGeom>
          <a:solidFill>
            <a:srgbClr val="E1C2C2">
              <a:alpha val="50000"/>
            </a:srgbClr>
          </a:solidFill>
        </p:spPr>
      </p:sp>
      <p:sp>
        <p:nvSpPr>
          <p:cNvPr id="7" name="Text 4"/>
          <p:cNvSpPr/>
          <p:nvPr/>
        </p:nvSpPr>
        <p:spPr>
          <a:xfrm>
            <a:off x="4491692" y="1803797"/>
            <a:ext cx="160496" cy="200620"/>
          </a:xfrm>
          <a:prstGeom prst="rect">
            <a:avLst/>
          </a:prstGeom>
          <a:noFill/>
        </p:spPr>
        <p:txBody>
          <a:bodyPr wrap="none" lIns="0" tIns="0" rIns="0" bIns="0" rtlCol="0" anchor="t"/>
          <a:lstStyle/>
          <a:p>
            <a:pPr marL="0" indent="0" algn="l">
              <a:lnSpc>
                <a:spcPts val="1600"/>
              </a:lnSpc>
              <a:buNone/>
            </a:pPr>
            <a:r>
              <a:rPr lang="en-US" sz="1250" dirty="0">
                <a:solidFill>
                  <a:srgbClr val="000000"/>
                </a:solidFill>
                <a:latin typeface="Playfair Display Semi Bold" pitchFamily="34" charset="0"/>
                <a:ea typeface="Playfair Display Semi Bold" pitchFamily="34" charset="-122"/>
                <a:cs typeface="Playfair Display Semi Bold" pitchFamily="34" charset="-120"/>
              </a:rPr>
              <a:t>1</a:t>
            </a:r>
            <a:endParaRPr lang="en-US" sz="1250" dirty="0"/>
          </a:p>
        </p:txBody>
      </p:sp>
      <p:sp>
        <p:nvSpPr>
          <p:cNvPr id="8" name="Text 5"/>
          <p:cNvSpPr/>
          <p:nvPr/>
        </p:nvSpPr>
        <p:spPr>
          <a:xfrm>
            <a:off x="617220" y="2238494"/>
            <a:ext cx="2283381" cy="209074"/>
          </a:xfrm>
          <a:prstGeom prst="rect">
            <a:avLst/>
          </a:prstGeom>
          <a:noFill/>
        </p:spPr>
        <p:txBody>
          <a:bodyPr wrap="none" lIns="0" tIns="0" rIns="0" bIns="0" rtlCol="0" anchor="t"/>
          <a:lstStyle/>
          <a:p>
            <a:pPr marL="0" indent="0" algn="l">
              <a:lnSpc>
                <a:spcPts val="1600"/>
              </a:lnSpc>
              <a:buNone/>
            </a:pPr>
            <a:r>
              <a:rPr lang="en-US" sz="1300" dirty="0">
                <a:solidFill>
                  <a:srgbClr val="6F655D"/>
                </a:solidFill>
                <a:latin typeface="Playfair Display Semi Bold" pitchFamily="34" charset="0"/>
                <a:ea typeface="Playfair Display Semi Bold" pitchFamily="34" charset="-122"/>
                <a:cs typeface="Playfair Display Semi Bold" pitchFamily="34" charset="-120"/>
              </a:rPr>
              <a:t>Categorical Variable Handling</a:t>
            </a:r>
            <a:endParaRPr lang="en-US" sz="1300" dirty="0"/>
          </a:p>
        </p:txBody>
      </p:sp>
      <p:sp>
        <p:nvSpPr>
          <p:cNvPr id="9" name="Text 6"/>
          <p:cNvSpPr/>
          <p:nvPr/>
        </p:nvSpPr>
        <p:spPr>
          <a:xfrm>
            <a:off x="617220" y="2494836"/>
            <a:ext cx="7909560" cy="340281"/>
          </a:xfrm>
          <a:prstGeom prst="rect">
            <a:avLst/>
          </a:prstGeom>
          <a:noFill/>
        </p:spPr>
        <p:txBody>
          <a:bodyPr wrap="square" lIns="0" tIns="0" rIns="0" bIns="0" rtlCol="0" anchor="t"/>
          <a:lstStyle/>
          <a:p>
            <a:pPr marL="0" indent="0" algn="l">
              <a:lnSpc>
                <a:spcPts val="1300"/>
              </a:lnSpc>
              <a:buNone/>
            </a:pPr>
            <a:r>
              <a:rPr lang="en-US" sz="1050" dirty="0">
                <a:solidFill>
                  <a:srgbClr val="6F655D"/>
                </a:solidFill>
                <a:latin typeface="Public Sans" pitchFamily="34" charset="0"/>
                <a:ea typeface="Public Sans" pitchFamily="34" charset="-122"/>
                <a:cs typeface="Public Sans" pitchFamily="34" charset="-120"/>
              </a:rPr>
              <a:t>Transforming text-based features (education, job titles) into numerical format required careful encoding strategies to preserve meaningful relationships without introducing bias.</a:t>
            </a:r>
            <a:endParaRPr lang="en-US" sz="1050" dirty="0"/>
          </a:p>
        </p:txBody>
      </p:sp>
      <p:sp>
        <p:nvSpPr>
          <p:cNvPr id="10" name="Shape 7"/>
          <p:cNvSpPr/>
          <p:nvPr/>
        </p:nvSpPr>
        <p:spPr>
          <a:xfrm>
            <a:off x="468273" y="3263503"/>
            <a:ext cx="8207454" cy="1080016"/>
          </a:xfrm>
          <a:prstGeom prst="roundRect">
            <a:avLst>
              <a:gd name="adj" fmla="val 6773"/>
            </a:avLst>
          </a:prstGeom>
          <a:solidFill>
            <a:srgbClr val="FFFAF6"/>
          </a:solidFill>
          <a:effectLst>
            <a:outerShdw dist="11430" dir="2700000" algn="bl" rotWithShape="0">
              <a:srgbClr val="CCC4EC">
                <a:alpha val="100000"/>
              </a:srgbClr>
            </a:outerShdw>
          </a:effectLst>
        </p:spPr>
      </p:sp>
      <p:sp>
        <p:nvSpPr>
          <p:cNvPr id="11" name="Shape 8"/>
          <p:cNvSpPr/>
          <p:nvPr/>
        </p:nvSpPr>
        <p:spPr>
          <a:xfrm>
            <a:off x="468273" y="3248263"/>
            <a:ext cx="8207454" cy="60960"/>
          </a:xfrm>
          <a:prstGeom prst="roundRect">
            <a:avLst>
              <a:gd name="adj" fmla="val 92180"/>
            </a:avLst>
          </a:prstGeom>
          <a:solidFill>
            <a:srgbClr val="CCC4EC"/>
          </a:solidFill>
        </p:spPr>
      </p:sp>
      <p:sp>
        <p:nvSpPr>
          <p:cNvPr id="12" name="Shape 9"/>
          <p:cNvSpPr/>
          <p:nvPr/>
        </p:nvSpPr>
        <p:spPr>
          <a:xfrm>
            <a:off x="4371320" y="3062883"/>
            <a:ext cx="401360" cy="401360"/>
          </a:xfrm>
          <a:prstGeom prst="roundRect">
            <a:avLst>
              <a:gd name="adj" fmla="val 227825"/>
            </a:avLst>
          </a:prstGeom>
          <a:solidFill>
            <a:srgbClr val="CCC4EC">
              <a:alpha val="50000"/>
            </a:srgbClr>
          </a:solidFill>
        </p:spPr>
      </p:sp>
      <p:sp>
        <p:nvSpPr>
          <p:cNvPr id="13" name="Text 10"/>
          <p:cNvSpPr/>
          <p:nvPr/>
        </p:nvSpPr>
        <p:spPr>
          <a:xfrm>
            <a:off x="4491692" y="3163253"/>
            <a:ext cx="160496" cy="200620"/>
          </a:xfrm>
          <a:prstGeom prst="rect">
            <a:avLst/>
          </a:prstGeom>
          <a:noFill/>
        </p:spPr>
        <p:txBody>
          <a:bodyPr wrap="none" lIns="0" tIns="0" rIns="0" bIns="0" rtlCol="0" anchor="t"/>
          <a:lstStyle/>
          <a:p>
            <a:pPr marL="0" indent="0" algn="l">
              <a:lnSpc>
                <a:spcPts val="1600"/>
              </a:lnSpc>
              <a:buNone/>
            </a:pPr>
            <a:r>
              <a:rPr lang="en-US" sz="1250" dirty="0">
                <a:solidFill>
                  <a:srgbClr val="000000"/>
                </a:solidFill>
                <a:latin typeface="Playfair Display Semi Bold" pitchFamily="34" charset="0"/>
                <a:ea typeface="Playfair Display Semi Bold" pitchFamily="34" charset="-122"/>
                <a:cs typeface="Playfair Display Semi Bold" pitchFamily="34" charset="-120"/>
              </a:rPr>
              <a:t>2</a:t>
            </a:r>
            <a:endParaRPr lang="en-US" sz="1250" dirty="0"/>
          </a:p>
        </p:txBody>
      </p:sp>
      <p:sp>
        <p:nvSpPr>
          <p:cNvPr id="14" name="Text 11"/>
          <p:cNvSpPr/>
          <p:nvPr/>
        </p:nvSpPr>
        <p:spPr>
          <a:xfrm>
            <a:off x="617220" y="3597950"/>
            <a:ext cx="2168366" cy="209074"/>
          </a:xfrm>
          <a:prstGeom prst="rect">
            <a:avLst/>
          </a:prstGeom>
          <a:noFill/>
        </p:spPr>
        <p:txBody>
          <a:bodyPr wrap="none" lIns="0" tIns="0" rIns="0" bIns="0" rtlCol="0" anchor="t"/>
          <a:lstStyle/>
          <a:p>
            <a:pPr marL="0" indent="0" algn="l">
              <a:lnSpc>
                <a:spcPts val="1600"/>
              </a:lnSpc>
              <a:buNone/>
            </a:pPr>
            <a:r>
              <a:rPr lang="en-US" sz="1300" dirty="0">
                <a:solidFill>
                  <a:srgbClr val="6F655D"/>
                </a:solidFill>
                <a:latin typeface="Playfair Display Semi Bold" pitchFamily="34" charset="0"/>
                <a:ea typeface="Playfair Display Semi Bold" pitchFamily="34" charset="-122"/>
                <a:cs typeface="Playfair Display Semi Bold" pitchFamily="34" charset="-120"/>
              </a:rPr>
              <a:t>Library Compatibility Issues</a:t>
            </a:r>
            <a:endParaRPr lang="en-US" sz="1300" dirty="0"/>
          </a:p>
        </p:txBody>
      </p:sp>
      <p:sp>
        <p:nvSpPr>
          <p:cNvPr id="15" name="Text 12"/>
          <p:cNvSpPr/>
          <p:nvPr/>
        </p:nvSpPr>
        <p:spPr>
          <a:xfrm>
            <a:off x="617220" y="3854291"/>
            <a:ext cx="7909560" cy="340281"/>
          </a:xfrm>
          <a:prstGeom prst="rect">
            <a:avLst/>
          </a:prstGeom>
          <a:noFill/>
        </p:spPr>
        <p:txBody>
          <a:bodyPr wrap="square" lIns="0" tIns="0" rIns="0" bIns="0" rtlCol="0" anchor="t"/>
          <a:lstStyle/>
          <a:p>
            <a:pPr marL="0" indent="0" algn="l">
              <a:lnSpc>
                <a:spcPts val="1300"/>
              </a:lnSpc>
              <a:buNone/>
            </a:pPr>
            <a:r>
              <a:rPr lang="en-US" sz="1050" dirty="0">
                <a:solidFill>
                  <a:srgbClr val="6F655D"/>
                </a:solidFill>
                <a:latin typeface="Public Sans" pitchFamily="34" charset="0"/>
                <a:ea typeface="Public Sans" pitchFamily="34" charset="-122"/>
                <a:cs typeface="Public Sans" pitchFamily="34" charset="-120"/>
              </a:rPr>
              <a:t>DLL conflicts between Python versions and machine learning libraries caused installation problems. Resolved through virtual environment isolation and version pinning.</a:t>
            </a:r>
            <a:endParaRPr lang="en-US" sz="1050" dirty="0"/>
          </a:p>
        </p:txBody>
      </p:sp>
      <p:sp>
        <p:nvSpPr>
          <p:cNvPr id="16" name="Shape 13"/>
          <p:cNvSpPr/>
          <p:nvPr/>
        </p:nvSpPr>
        <p:spPr>
          <a:xfrm>
            <a:off x="468273" y="4622959"/>
            <a:ext cx="8207454" cy="1080016"/>
          </a:xfrm>
          <a:prstGeom prst="roundRect">
            <a:avLst>
              <a:gd name="adj" fmla="val 6773"/>
            </a:avLst>
          </a:prstGeom>
          <a:solidFill>
            <a:srgbClr val="FFFAF6"/>
          </a:solidFill>
          <a:effectLst>
            <a:outerShdw dist="11430" dir="2700000" algn="bl" rotWithShape="0">
              <a:srgbClr val="B4DAE4">
                <a:alpha val="100000"/>
              </a:srgbClr>
            </a:outerShdw>
          </a:effectLst>
        </p:spPr>
      </p:sp>
      <p:sp>
        <p:nvSpPr>
          <p:cNvPr id="17" name="Shape 14"/>
          <p:cNvSpPr/>
          <p:nvPr/>
        </p:nvSpPr>
        <p:spPr>
          <a:xfrm>
            <a:off x="468273" y="4607719"/>
            <a:ext cx="8207454" cy="60960"/>
          </a:xfrm>
          <a:prstGeom prst="roundRect">
            <a:avLst>
              <a:gd name="adj" fmla="val 92180"/>
            </a:avLst>
          </a:prstGeom>
          <a:solidFill>
            <a:srgbClr val="B4DAE4"/>
          </a:solidFill>
        </p:spPr>
      </p:sp>
      <p:sp>
        <p:nvSpPr>
          <p:cNvPr id="18" name="Shape 15"/>
          <p:cNvSpPr/>
          <p:nvPr/>
        </p:nvSpPr>
        <p:spPr>
          <a:xfrm>
            <a:off x="4371320" y="4422338"/>
            <a:ext cx="401360" cy="401360"/>
          </a:xfrm>
          <a:prstGeom prst="roundRect">
            <a:avLst>
              <a:gd name="adj" fmla="val 227825"/>
            </a:avLst>
          </a:prstGeom>
          <a:solidFill>
            <a:srgbClr val="B4DAE4">
              <a:alpha val="50000"/>
            </a:srgbClr>
          </a:solidFill>
        </p:spPr>
      </p:sp>
      <p:sp>
        <p:nvSpPr>
          <p:cNvPr id="19" name="Text 16"/>
          <p:cNvSpPr/>
          <p:nvPr/>
        </p:nvSpPr>
        <p:spPr>
          <a:xfrm>
            <a:off x="4491692" y="4522708"/>
            <a:ext cx="160496" cy="200620"/>
          </a:xfrm>
          <a:prstGeom prst="rect">
            <a:avLst/>
          </a:prstGeom>
          <a:noFill/>
        </p:spPr>
        <p:txBody>
          <a:bodyPr wrap="none" lIns="0" tIns="0" rIns="0" bIns="0" rtlCol="0" anchor="t"/>
          <a:lstStyle/>
          <a:p>
            <a:pPr marL="0" indent="0" algn="l">
              <a:lnSpc>
                <a:spcPts val="1600"/>
              </a:lnSpc>
              <a:buNone/>
            </a:pPr>
            <a:r>
              <a:rPr lang="en-US" sz="1250" dirty="0">
                <a:solidFill>
                  <a:srgbClr val="000000"/>
                </a:solidFill>
                <a:latin typeface="Playfair Display Semi Bold" pitchFamily="34" charset="0"/>
                <a:ea typeface="Playfair Display Semi Bold" pitchFamily="34" charset="-122"/>
                <a:cs typeface="Playfair Display Semi Bold" pitchFamily="34" charset="-120"/>
              </a:rPr>
              <a:t>3</a:t>
            </a:r>
            <a:endParaRPr lang="en-US" sz="1250" dirty="0"/>
          </a:p>
        </p:txBody>
      </p:sp>
      <p:sp>
        <p:nvSpPr>
          <p:cNvPr id="20" name="Text 17"/>
          <p:cNvSpPr/>
          <p:nvPr/>
        </p:nvSpPr>
        <p:spPr>
          <a:xfrm>
            <a:off x="617220" y="4957405"/>
            <a:ext cx="1724144" cy="209074"/>
          </a:xfrm>
          <a:prstGeom prst="rect">
            <a:avLst/>
          </a:prstGeom>
          <a:noFill/>
        </p:spPr>
        <p:txBody>
          <a:bodyPr wrap="none" lIns="0" tIns="0" rIns="0" bIns="0" rtlCol="0" anchor="t"/>
          <a:lstStyle/>
          <a:p>
            <a:pPr marL="0" indent="0" algn="l">
              <a:lnSpc>
                <a:spcPts val="1600"/>
              </a:lnSpc>
              <a:buNone/>
            </a:pPr>
            <a:r>
              <a:rPr lang="en-US" sz="1300" dirty="0">
                <a:solidFill>
                  <a:srgbClr val="6F655D"/>
                </a:solidFill>
                <a:latin typeface="Playfair Display Semi Bold" pitchFamily="34" charset="0"/>
                <a:ea typeface="Playfair Display Semi Bold" pitchFamily="34" charset="-122"/>
                <a:cs typeface="Playfair Display Semi Bold" pitchFamily="34" charset="-120"/>
              </a:rPr>
              <a:t>Data Quality Concerns</a:t>
            </a:r>
            <a:endParaRPr lang="en-US" sz="1300" dirty="0"/>
          </a:p>
        </p:txBody>
      </p:sp>
      <p:sp>
        <p:nvSpPr>
          <p:cNvPr id="21" name="Text 18"/>
          <p:cNvSpPr/>
          <p:nvPr/>
        </p:nvSpPr>
        <p:spPr>
          <a:xfrm>
            <a:off x="617220" y="5213747"/>
            <a:ext cx="7909560" cy="340281"/>
          </a:xfrm>
          <a:prstGeom prst="rect">
            <a:avLst/>
          </a:prstGeom>
          <a:noFill/>
        </p:spPr>
        <p:txBody>
          <a:bodyPr wrap="square" lIns="0" tIns="0" rIns="0" bIns="0" rtlCol="0" anchor="t"/>
          <a:lstStyle/>
          <a:p>
            <a:pPr marL="0" indent="0" algn="l">
              <a:lnSpc>
                <a:spcPts val="1300"/>
              </a:lnSpc>
              <a:buNone/>
            </a:pPr>
            <a:r>
              <a:rPr lang="en-US" sz="1050" dirty="0">
                <a:solidFill>
                  <a:srgbClr val="6F655D"/>
                </a:solidFill>
                <a:latin typeface="Public Sans" pitchFamily="34" charset="0"/>
                <a:ea typeface="Public Sans" pitchFamily="34" charset="-122"/>
                <a:cs typeface="Public Sans" pitchFamily="34" charset="-120"/>
              </a:rPr>
              <a:t>Missing values and inconsistent formatting in raw dataset required robust data cleaning pipelines and imputation strategies to ensure model reliability.</a:t>
            </a:r>
            <a:endParaRPr lang="en-US" sz="1050" dirty="0"/>
          </a:p>
        </p:txBody>
      </p:sp>
      <p:sp>
        <p:nvSpPr>
          <p:cNvPr id="22" name="Shape 19"/>
          <p:cNvSpPr/>
          <p:nvPr/>
        </p:nvSpPr>
        <p:spPr>
          <a:xfrm>
            <a:off x="468273" y="5982414"/>
            <a:ext cx="8207454" cy="1080016"/>
          </a:xfrm>
          <a:prstGeom prst="roundRect">
            <a:avLst>
              <a:gd name="adj" fmla="val 6773"/>
            </a:avLst>
          </a:prstGeom>
          <a:solidFill>
            <a:srgbClr val="FFFAF6"/>
          </a:solidFill>
          <a:effectLst>
            <a:outerShdw dist="11430" dir="2700000" algn="bl" rotWithShape="0">
              <a:srgbClr val="E1C2C2">
                <a:alpha val="100000"/>
              </a:srgbClr>
            </a:outerShdw>
          </a:effectLst>
        </p:spPr>
      </p:sp>
      <p:sp>
        <p:nvSpPr>
          <p:cNvPr id="23" name="Shape 20"/>
          <p:cNvSpPr/>
          <p:nvPr/>
        </p:nvSpPr>
        <p:spPr>
          <a:xfrm>
            <a:off x="468273" y="5967174"/>
            <a:ext cx="8207454" cy="60960"/>
          </a:xfrm>
          <a:prstGeom prst="roundRect">
            <a:avLst>
              <a:gd name="adj" fmla="val 92180"/>
            </a:avLst>
          </a:prstGeom>
          <a:solidFill>
            <a:srgbClr val="E1C2C2"/>
          </a:solidFill>
        </p:spPr>
      </p:sp>
      <p:sp>
        <p:nvSpPr>
          <p:cNvPr id="24" name="Shape 21"/>
          <p:cNvSpPr/>
          <p:nvPr/>
        </p:nvSpPr>
        <p:spPr>
          <a:xfrm>
            <a:off x="4371320" y="5781794"/>
            <a:ext cx="401360" cy="401360"/>
          </a:xfrm>
          <a:prstGeom prst="roundRect">
            <a:avLst>
              <a:gd name="adj" fmla="val 227825"/>
            </a:avLst>
          </a:prstGeom>
          <a:solidFill>
            <a:srgbClr val="E1C2C2">
              <a:alpha val="50000"/>
            </a:srgbClr>
          </a:solidFill>
        </p:spPr>
      </p:sp>
      <p:sp>
        <p:nvSpPr>
          <p:cNvPr id="25" name="Text 22"/>
          <p:cNvSpPr/>
          <p:nvPr/>
        </p:nvSpPr>
        <p:spPr>
          <a:xfrm>
            <a:off x="4491692" y="5882164"/>
            <a:ext cx="160496" cy="200620"/>
          </a:xfrm>
          <a:prstGeom prst="rect">
            <a:avLst/>
          </a:prstGeom>
          <a:noFill/>
        </p:spPr>
        <p:txBody>
          <a:bodyPr wrap="none" lIns="0" tIns="0" rIns="0" bIns="0" rtlCol="0" anchor="t"/>
          <a:lstStyle/>
          <a:p>
            <a:pPr marL="0" indent="0" algn="l">
              <a:lnSpc>
                <a:spcPts val="1600"/>
              </a:lnSpc>
              <a:buNone/>
            </a:pPr>
            <a:r>
              <a:rPr lang="en-US" sz="1250" dirty="0">
                <a:solidFill>
                  <a:srgbClr val="000000"/>
                </a:solidFill>
                <a:latin typeface="Playfair Display Semi Bold" pitchFamily="34" charset="0"/>
                <a:ea typeface="Playfair Display Semi Bold" pitchFamily="34" charset="-122"/>
                <a:cs typeface="Playfair Display Semi Bold" pitchFamily="34" charset="-120"/>
              </a:rPr>
              <a:t>4</a:t>
            </a:r>
            <a:endParaRPr lang="en-US" sz="1250" dirty="0"/>
          </a:p>
        </p:txBody>
      </p:sp>
      <p:sp>
        <p:nvSpPr>
          <p:cNvPr id="26" name="Text 23"/>
          <p:cNvSpPr/>
          <p:nvPr/>
        </p:nvSpPr>
        <p:spPr>
          <a:xfrm>
            <a:off x="617220" y="6316861"/>
            <a:ext cx="1694617" cy="209074"/>
          </a:xfrm>
          <a:prstGeom prst="rect">
            <a:avLst/>
          </a:prstGeom>
          <a:noFill/>
        </p:spPr>
        <p:txBody>
          <a:bodyPr wrap="none" lIns="0" tIns="0" rIns="0" bIns="0" rtlCol="0" anchor="t"/>
          <a:lstStyle/>
          <a:p>
            <a:pPr marL="0" indent="0" algn="l">
              <a:lnSpc>
                <a:spcPts val="1600"/>
              </a:lnSpc>
              <a:buNone/>
            </a:pPr>
            <a:r>
              <a:rPr lang="en-US" sz="1300" dirty="0">
                <a:solidFill>
                  <a:srgbClr val="6F655D"/>
                </a:solidFill>
                <a:latin typeface="Playfair Display Semi Bold" pitchFamily="34" charset="0"/>
                <a:ea typeface="Playfair Display Semi Bold" pitchFamily="34" charset="-122"/>
                <a:cs typeface="Playfair Display Semi Bold" pitchFamily="34" charset="-120"/>
              </a:rPr>
              <a:t>Model Interpretability</a:t>
            </a:r>
            <a:endParaRPr lang="en-US" sz="1300" dirty="0"/>
          </a:p>
        </p:txBody>
      </p:sp>
      <p:sp>
        <p:nvSpPr>
          <p:cNvPr id="27" name="Text 24"/>
          <p:cNvSpPr/>
          <p:nvPr/>
        </p:nvSpPr>
        <p:spPr>
          <a:xfrm>
            <a:off x="617220" y="6573203"/>
            <a:ext cx="7909560" cy="340281"/>
          </a:xfrm>
          <a:prstGeom prst="rect">
            <a:avLst/>
          </a:prstGeom>
          <a:noFill/>
        </p:spPr>
        <p:txBody>
          <a:bodyPr wrap="square" lIns="0" tIns="0" rIns="0" bIns="0" rtlCol="0" anchor="t"/>
          <a:lstStyle/>
          <a:p>
            <a:pPr marL="0" indent="0" algn="l">
              <a:lnSpc>
                <a:spcPts val="1300"/>
              </a:lnSpc>
              <a:buNone/>
            </a:pPr>
            <a:r>
              <a:rPr lang="en-US" sz="1050" dirty="0">
                <a:solidFill>
                  <a:srgbClr val="6F655D"/>
                </a:solidFill>
                <a:latin typeface="Public Sans" pitchFamily="34" charset="0"/>
                <a:ea typeface="Public Sans" pitchFamily="34" charset="-122"/>
                <a:cs typeface="Public Sans" pitchFamily="34" charset="-120"/>
              </a:rPr>
              <a:t>Explaining predictions to end-users required additional feature importance analysis and partial dependence plots to build trust in automated recommendations.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595360" y="0"/>
            <a:ext cx="6035040" cy="8229600"/>
          </a:xfrm>
          <a:prstGeom prst="rect">
            <a:avLst/>
          </a:prstGeom>
        </p:spPr>
      </p:pic>
      <p:sp>
        <p:nvSpPr>
          <p:cNvPr id="3" name="Text 0"/>
          <p:cNvSpPr/>
          <p:nvPr/>
        </p:nvSpPr>
        <p:spPr>
          <a:xfrm>
            <a:off x="793790" y="904042"/>
            <a:ext cx="5716905" cy="708779"/>
          </a:xfrm>
          <a:prstGeom prst="rect">
            <a:avLst/>
          </a:prstGeom>
          <a:noFill/>
        </p:spPr>
        <p:txBody>
          <a:bodyPr wrap="none" lIns="0" tIns="0" rIns="0" bIns="0" rtlCol="0" anchor="t"/>
          <a:lstStyle/>
          <a:p>
            <a:pPr marL="0" indent="0" algn="l">
              <a:lnSpc>
                <a:spcPts val="5550"/>
              </a:lnSpc>
              <a:buNone/>
            </a:pPr>
            <a:r>
              <a:rPr lang="en-US" sz="4450" dirty="0">
                <a:solidFill>
                  <a:srgbClr val="4B6981"/>
                </a:solidFill>
                <a:latin typeface="Playfair Display Semi Bold" pitchFamily="34" charset="0"/>
                <a:ea typeface="Playfair Display Semi Bold" pitchFamily="34" charset="-122"/>
                <a:cs typeface="Playfair Display Semi Bold" pitchFamily="34" charset="-120"/>
              </a:rPr>
              <a:t>Future Enhancements</a:t>
            </a:r>
            <a:endParaRPr lang="en-US" sz="4450" dirty="0"/>
          </a:p>
        </p:txBody>
      </p:sp>
      <p:pic>
        <p:nvPicPr>
          <p:cNvPr id="4" name="Image 1" descr="preencoded.png"/>
          <p:cNvPicPr>
            <a:picLocks noChangeAspect="1"/>
          </p:cNvPicPr>
          <p:nvPr/>
        </p:nvPicPr>
        <p:blipFill>
          <a:blip r:embed="rId2"/>
          <a:stretch>
            <a:fillRect/>
          </a:stretch>
        </p:blipFill>
        <p:spPr>
          <a:xfrm>
            <a:off x="793790" y="1952982"/>
            <a:ext cx="1134070" cy="2032754"/>
          </a:xfrm>
          <a:prstGeom prst="rect">
            <a:avLst/>
          </a:prstGeom>
        </p:spPr>
      </p:pic>
      <p:sp>
        <p:nvSpPr>
          <p:cNvPr id="5" name="Text 1"/>
          <p:cNvSpPr/>
          <p:nvPr/>
        </p:nvSpPr>
        <p:spPr>
          <a:xfrm>
            <a:off x="2154674" y="2179796"/>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Advanced Algorithms</a:t>
            </a:r>
            <a:endParaRPr lang="en-US" sz="2200" dirty="0"/>
          </a:p>
        </p:txBody>
      </p:sp>
      <p:sp>
        <p:nvSpPr>
          <p:cNvPr id="6" name="Text 2"/>
          <p:cNvSpPr/>
          <p:nvPr/>
        </p:nvSpPr>
        <p:spPr>
          <a:xfrm>
            <a:off x="2154674" y="2670215"/>
            <a:ext cx="6195536" cy="1088708"/>
          </a:xfrm>
          <a:prstGeom prst="rect">
            <a:avLst/>
          </a:prstGeom>
          <a:noFill/>
        </p:spPr>
        <p:txBody>
          <a:bodyPr wrap="squar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Implement ensemble methods like Random Forest, Gradient Boosting, and Neural Networks for improved accuracy</a:t>
            </a:r>
            <a:endParaRPr lang="en-US" sz="1750" dirty="0"/>
          </a:p>
        </p:txBody>
      </p:sp>
      <p:pic>
        <p:nvPicPr>
          <p:cNvPr id="7" name="Image 2" descr="preencoded.png"/>
          <p:cNvPicPr>
            <a:picLocks noChangeAspect="1"/>
          </p:cNvPicPr>
          <p:nvPr/>
        </p:nvPicPr>
        <p:blipFill>
          <a:blip r:embed="rId3"/>
          <a:stretch>
            <a:fillRect/>
          </a:stretch>
        </p:blipFill>
        <p:spPr>
          <a:xfrm>
            <a:off x="793790" y="3985736"/>
            <a:ext cx="1134070" cy="1669852"/>
          </a:xfrm>
          <a:prstGeom prst="rect">
            <a:avLst/>
          </a:prstGeom>
        </p:spPr>
      </p:pic>
      <p:sp>
        <p:nvSpPr>
          <p:cNvPr id="8" name="Text 3"/>
          <p:cNvSpPr/>
          <p:nvPr/>
        </p:nvSpPr>
        <p:spPr>
          <a:xfrm>
            <a:off x="2154674" y="4212550"/>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Web Deployment</a:t>
            </a:r>
            <a:endParaRPr lang="en-US" sz="2200" dirty="0"/>
          </a:p>
        </p:txBody>
      </p:sp>
      <p:sp>
        <p:nvSpPr>
          <p:cNvPr id="9" name="Text 4"/>
          <p:cNvSpPr/>
          <p:nvPr/>
        </p:nvSpPr>
        <p:spPr>
          <a:xfrm>
            <a:off x="2154674" y="4702969"/>
            <a:ext cx="6195536" cy="725805"/>
          </a:xfrm>
          <a:prstGeom prst="rect">
            <a:avLst/>
          </a:prstGeom>
          <a:noFill/>
        </p:spPr>
        <p:txBody>
          <a:bodyPr wrap="squar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Containerize application with Docker and deploy as scalable web service using Flask or FastAPI</a:t>
            </a:r>
            <a:endParaRPr lang="en-US" sz="1750" dirty="0"/>
          </a:p>
        </p:txBody>
      </p:sp>
      <p:pic>
        <p:nvPicPr>
          <p:cNvPr id="10" name="Image 3" descr="preencoded.png"/>
          <p:cNvPicPr>
            <a:picLocks noChangeAspect="1"/>
          </p:cNvPicPr>
          <p:nvPr/>
        </p:nvPicPr>
        <p:blipFill>
          <a:blip r:embed="rId4"/>
          <a:stretch>
            <a:fillRect/>
          </a:stretch>
        </p:blipFill>
        <p:spPr>
          <a:xfrm>
            <a:off x="793790" y="5655588"/>
            <a:ext cx="1134070" cy="1669852"/>
          </a:xfrm>
          <a:prstGeom prst="rect">
            <a:avLst/>
          </a:prstGeom>
        </p:spPr>
      </p:pic>
      <p:sp>
        <p:nvSpPr>
          <p:cNvPr id="11" name="Text 5"/>
          <p:cNvSpPr/>
          <p:nvPr/>
        </p:nvSpPr>
        <p:spPr>
          <a:xfrm>
            <a:off x="2154674" y="5882402"/>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Feature Expansion</a:t>
            </a:r>
            <a:endParaRPr lang="en-US" sz="2200" dirty="0"/>
          </a:p>
        </p:txBody>
      </p:sp>
      <p:sp>
        <p:nvSpPr>
          <p:cNvPr id="12" name="Text 6"/>
          <p:cNvSpPr/>
          <p:nvPr/>
        </p:nvSpPr>
        <p:spPr>
          <a:xfrm>
            <a:off x="2154674" y="6372820"/>
            <a:ext cx="6195536" cy="725805"/>
          </a:xfrm>
          <a:prstGeom prst="rect">
            <a:avLst/>
          </a:prstGeom>
          <a:noFill/>
        </p:spPr>
        <p:txBody>
          <a:bodyPr wrap="square" lIns="0" tIns="0" rIns="0" bIns="0" rtlCol="0" anchor="t"/>
          <a:lstStyle/>
          <a:p>
            <a:pPr marL="0" indent="0" algn="l">
              <a:lnSpc>
                <a:spcPts val="2850"/>
              </a:lnSpc>
              <a:buNone/>
            </a:pPr>
            <a:r>
              <a:rPr lang="en-US" sz="1750" dirty="0">
                <a:solidFill>
                  <a:srgbClr val="6F655D"/>
                </a:solidFill>
                <a:latin typeface="Public Sans" pitchFamily="34" charset="0"/>
                <a:ea typeface="Public Sans" pitchFamily="34" charset="-122"/>
                <a:cs typeface="Public Sans" pitchFamily="34" charset="-120"/>
              </a:rPr>
              <a:t>Incorporate location, company size, skills, certifications, and market trends for comprehensive predictions</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158014" y="1418749"/>
            <a:ext cx="4720233" cy="376476"/>
          </a:xfrm>
          <a:prstGeom prst="rect">
            <a:avLst/>
          </a:prstGeom>
          <a:noFill/>
        </p:spPr>
        <p:txBody>
          <a:bodyPr wrap="none" lIns="0" tIns="0" rIns="0" bIns="0" rtlCol="0" anchor="t"/>
          <a:lstStyle/>
          <a:p>
            <a:pPr marL="0" indent="0" algn="l">
              <a:lnSpc>
                <a:spcPts val="2950"/>
              </a:lnSpc>
              <a:buNone/>
            </a:pPr>
            <a:r>
              <a:rPr lang="en-US" sz="2350" dirty="0">
                <a:solidFill>
                  <a:srgbClr val="4B6981"/>
                </a:solidFill>
                <a:latin typeface="Playfair Display Semi Bold" pitchFamily="34" charset="0"/>
                <a:ea typeface="Playfair Display Semi Bold" pitchFamily="34" charset="-122"/>
                <a:cs typeface="Playfair Display Semi Bold" pitchFamily="34" charset="-120"/>
              </a:rPr>
              <a:t>Project Output: Sample Prediction</a:t>
            </a:r>
            <a:endParaRPr lang="en-US" sz="2350" dirty="0"/>
          </a:p>
        </p:txBody>
      </p:sp>
      <p:sp>
        <p:nvSpPr>
          <p:cNvPr id="3" name="Shape 1"/>
          <p:cNvSpPr/>
          <p:nvPr/>
        </p:nvSpPr>
        <p:spPr>
          <a:xfrm>
            <a:off x="3158014" y="1923217"/>
            <a:ext cx="2728793" cy="1203246"/>
          </a:xfrm>
          <a:prstGeom prst="roundRect">
            <a:avLst>
              <a:gd name="adj" fmla="val 4206"/>
            </a:avLst>
          </a:prstGeom>
          <a:solidFill>
            <a:srgbClr val="F0DEDC"/>
          </a:solidFill>
          <a:ln w="7620">
            <a:solidFill>
              <a:srgbClr val="E1C2C2"/>
            </a:solidFill>
            <a:prstDash val="solid"/>
          </a:ln>
          <a:effectLst>
            <a:outerShdw dist="10160" dir="2700000" algn="bl" rotWithShape="0">
              <a:srgbClr val="E1C2C2">
                <a:alpha val="100000"/>
              </a:srgbClr>
            </a:outerShdw>
          </a:effectLst>
        </p:spPr>
      </p:sp>
      <p:sp>
        <p:nvSpPr>
          <p:cNvPr id="4" name="Shape 2"/>
          <p:cNvSpPr/>
          <p:nvPr/>
        </p:nvSpPr>
        <p:spPr>
          <a:xfrm>
            <a:off x="3286125" y="2051328"/>
            <a:ext cx="361474" cy="361474"/>
          </a:xfrm>
          <a:prstGeom prst="roundRect">
            <a:avLst>
              <a:gd name="adj" fmla="val 25293896"/>
            </a:avLst>
          </a:prstGeom>
          <a:solidFill>
            <a:srgbClr val="E1C2C2"/>
          </a:solidFill>
        </p:spPr>
      </p:sp>
      <p:pic>
        <p:nvPicPr>
          <p:cNvPr id="5"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385542" y="2150626"/>
            <a:ext cx="162639" cy="162639"/>
          </a:xfrm>
          <a:prstGeom prst="rect">
            <a:avLst/>
          </a:prstGeom>
        </p:spPr>
      </p:pic>
      <p:sp>
        <p:nvSpPr>
          <p:cNvPr id="6" name="Text 3"/>
          <p:cNvSpPr/>
          <p:nvPr/>
        </p:nvSpPr>
        <p:spPr>
          <a:xfrm>
            <a:off x="3286125" y="2476738"/>
            <a:ext cx="1506141" cy="188238"/>
          </a:xfrm>
          <a:prstGeom prst="rect">
            <a:avLst/>
          </a:prstGeom>
          <a:noFill/>
        </p:spPr>
        <p:txBody>
          <a:bodyPr wrap="none" lIns="0" tIns="0" rIns="0" bIns="0" rtlCol="0" anchor="t"/>
          <a:lstStyle/>
          <a:p>
            <a:pPr marL="0" indent="0" algn="l">
              <a:lnSpc>
                <a:spcPts val="1450"/>
              </a:lnSpc>
              <a:buNone/>
            </a:pPr>
            <a:r>
              <a:rPr lang="en-US" sz="1150" dirty="0">
                <a:solidFill>
                  <a:srgbClr val="000000"/>
                </a:solidFill>
                <a:latin typeface="Playfair Display Semi Bold" pitchFamily="34" charset="0"/>
                <a:ea typeface="Playfair Display Semi Bold" pitchFamily="34" charset="-122"/>
                <a:cs typeface="Playfair Display Semi Bold" pitchFamily="34" charset="-120"/>
              </a:rPr>
              <a:t>Education</a:t>
            </a:r>
            <a:endParaRPr lang="en-US" sz="1150" dirty="0"/>
          </a:p>
        </p:txBody>
      </p:sp>
      <p:sp>
        <p:nvSpPr>
          <p:cNvPr id="7" name="Text 4"/>
          <p:cNvSpPr/>
          <p:nvPr/>
        </p:nvSpPr>
        <p:spPr>
          <a:xfrm>
            <a:off x="3286125" y="2703314"/>
            <a:ext cx="2472571" cy="147518"/>
          </a:xfrm>
          <a:prstGeom prst="rect">
            <a:avLst/>
          </a:prstGeom>
          <a:noFill/>
        </p:spPr>
        <p:txBody>
          <a:bodyPr wrap="none" lIns="0" tIns="0" rIns="0" bIns="0" rtlCol="0" anchor="t"/>
          <a:lstStyle/>
          <a:p>
            <a:pPr marL="0" indent="0" algn="l">
              <a:lnSpc>
                <a:spcPts val="1150"/>
              </a:lnSpc>
              <a:buNone/>
            </a:pPr>
            <a:r>
              <a:rPr lang="en-US" sz="900" dirty="0">
                <a:solidFill>
                  <a:srgbClr val="000000"/>
                </a:solidFill>
                <a:latin typeface="Public Sans" pitchFamily="34" charset="0"/>
                <a:ea typeface="Public Sans" pitchFamily="34" charset="-122"/>
                <a:cs typeface="Public Sans" pitchFamily="34" charset="-120"/>
              </a:rPr>
              <a:t>Master's Degree in Computer Science</a:t>
            </a:r>
            <a:endParaRPr lang="en-US" sz="900" dirty="0"/>
          </a:p>
        </p:txBody>
      </p:sp>
      <p:sp>
        <p:nvSpPr>
          <p:cNvPr id="8" name="Shape 5"/>
          <p:cNvSpPr/>
          <p:nvPr/>
        </p:nvSpPr>
        <p:spPr>
          <a:xfrm>
            <a:off x="5950744" y="1923217"/>
            <a:ext cx="2728793" cy="1203246"/>
          </a:xfrm>
          <a:prstGeom prst="roundRect">
            <a:avLst>
              <a:gd name="adj" fmla="val 4206"/>
            </a:avLst>
          </a:prstGeom>
          <a:solidFill>
            <a:srgbClr val="F0DEDC"/>
          </a:solidFill>
          <a:ln w="7620">
            <a:solidFill>
              <a:srgbClr val="CCC4EC"/>
            </a:solidFill>
            <a:prstDash val="solid"/>
          </a:ln>
          <a:effectLst>
            <a:outerShdw dist="10160" dir="2700000" algn="bl" rotWithShape="0">
              <a:srgbClr val="CCC4EC">
                <a:alpha val="100000"/>
              </a:srgbClr>
            </a:outerShdw>
          </a:effectLst>
        </p:spPr>
      </p:sp>
      <p:sp>
        <p:nvSpPr>
          <p:cNvPr id="9" name="Shape 6"/>
          <p:cNvSpPr/>
          <p:nvPr/>
        </p:nvSpPr>
        <p:spPr>
          <a:xfrm>
            <a:off x="6078855" y="2051328"/>
            <a:ext cx="361474" cy="361474"/>
          </a:xfrm>
          <a:prstGeom prst="roundRect">
            <a:avLst>
              <a:gd name="adj" fmla="val 25293896"/>
            </a:avLst>
          </a:prstGeom>
          <a:solidFill>
            <a:srgbClr val="CCC4EC"/>
          </a:solidFill>
        </p:spPr>
      </p:sp>
      <p:pic>
        <p:nvPicPr>
          <p:cNvPr id="10"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8272" y="2150626"/>
            <a:ext cx="162639" cy="162639"/>
          </a:xfrm>
          <a:prstGeom prst="rect">
            <a:avLst/>
          </a:prstGeom>
        </p:spPr>
      </p:pic>
      <p:sp>
        <p:nvSpPr>
          <p:cNvPr id="11" name="Text 7"/>
          <p:cNvSpPr/>
          <p:nvPr/>
        </p:nvSpPr>
        <p:spPr>
          <a:xfrm>
            <a:off x="6078855" y="2476738"/>
            <a:ext cx="1506141" cy="188238"/>
          </a:xfrm>
          <a:prstGeom prst="rect">
            <a:avLst/>
          </a:prstGeom>
          <a:noFill/>
        </p:spPr>
        <p:txBody>
          <a:bodyPr wrap="none" lIns="0" tIns="0" rIns="0" bIns="0" rtlCol="0" anchor="t"/>
          <a:lstStyle/>
          <a:p>
            <a:pPr marL="0" indent="0" algn="l">
              <a:lnSpc>
                <a:spcPts val="1450"/>
              </a:lnSpc>
              <a:buNone/>
            </a:pPr>
            <a:r>
              <a:rPr lang="en-US" sz="1150" dirty="0">
                <a:solidFill>
                  <a:srgbClr val="000000"/>
                </a:solidFill>
                <a:latin typeface="Playfair Display Semi Bold" pitchFamily="34" charset="0"/>
                <a:ea typeface="Playfair Display Semi Bold" pitchFamily="34" charset="-122"/>
                <a:cs typeface="Playfair Display Semi Bold" pitchFamily="34" charset="-120"/>
              </a:rPr>
              <a:t>Experience</a:t>
            </a:r>
            <a:endParaRPr lang="en-US" sz="1150" dirty="0"/>
          </a:p>
        </p:txBody>
      </p:sp>
      <p:sp>
        <p:nvSpPr>
          <p:cNvPr id="12" name="Text 8"/>
          <p:cNvSpPr/>
          <p:nvPr/>
        </p:nvSpPr>
        <p:spPr>
          <a:xfrm>
            <a:off x="6078855" y="2703314"/>
            <a:ext cx="2472571" cy="295037"/>
          </a:xfrm>
          <a:prstGeom prst="rect">
            <a:avLst/>
          </a:prstGeom>
          <a:noFill/>
        </p:spPr>
        <p:txBody>
          <a:bodyPr wrap="square" lIns="0" tIns="0" rIns="0" bIns="0" rtlCol="0" anchor="t"/>
          <a:lstStyle/>
          <a:p>
            <a:pPr marL="0" indent="0" algn="l">
              <a:lnSpc>
                <a:spcPts val="1150"/>
              </a:lnSpc>
              <a:buNone/>
            </a:pPr>
            <a:r>
              <a:rPr lang="en-US" sz="900" dirty="0">
                <a:solidFill>
                  <a:srgbClr val="000000"/>
                </a:solidFill>
                <a:latin typeface="Public Sans" pitchFamily="34" charset="0"/>
                <a:ea typeface="Public Sans" pitchFamily="34" charset="-122"/>
                <a:cs typeface="Public Sans" pitchFamily="34" charset="-120"/>
              </a:rPr>
              <a:t>5 years of professional software development</a:t>
            </a:r>
            <a:endParaRPr lang="en-US" sz="900" dirty="0"/>
          </a:p>
        </p:txBody>
      </p:sp>
      <p:sp>
        <p:nvSpPr>
          <p:cNvPr id="13" name="Shape 9"/>
          <p:cNvSpPr/>
          <p:nvPr/>
        </p:nvSpPr>
        <p:spPr>
          <a:xfrm>
            <a:off x="8743474" y="1923217"/>
            <a:ext cx="2728913" cy="1203246"/>
          </a:xfrm>
          <a:prstGeom prst="roundRect">
            <a:avLst>
              <a:gd name="adj" fmla="val 4206"/>
            </a:avLst>
          </a:prstGeom>
          <a:solidFill>
            <a:srgbClr val="F0DEDC"/>
          </a:solidFill>
          <a:ln w="7620">
            <a:solidFill>
              <a:srgbClr val="B4DAE4"/>
            </a:solidFill>
            <a:prstDash val="solid"/>
          </a:ln>
          <a:effectLst>
            <a:outerShdw dist="10160" dir="2700000" algn="bl" rotWithShape="0">
              <a:srgbClr val="B4DAE4">
                <a:alpha val="100000"/>
              </a:srgbClr>
            </a:outerShdw>
          </a:effectLst>
        </p:spPr>
      </p:sp>
      <p:sp>
        <p:nvSpPr>
          <p:cNvPr id="14" name="Shape 10"/>
          <p:cNvSpPr/>
          <p:nvPr/>
        </p:nvSpPr>
        <p:spPr>
          <a:xfrm>
            <a:off x="8871585" y="2051328"/>
            <a:ext cx="361474" cy="361474"/>
          </a:xfrm>
          <a:prstGeom prst="roundRect">
            <a:avLst>
              <a:gd name="adj" fmla="val 25293896"/>
            </a:avLst>
          </a:prstGeom>
          <a:solidFill>
            <a:srgbClr val="B4DAE4"/>
          </a:solidFill>
        </p:spPr>
      </p:sp>
      <p:pic>
        <p:nvPicPr>
          <p:cNvPr id="15"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71002" y="2150626"/>
            <a:ext cx="162639" cy="162639"/>
          </a:xfrm>
          <a:prstGeom prst="rect">
            <a:avLst/>
          </a:prstGeom>
        </p:spPr>
      </p:pic>
      <p:sp>
        <p:nvSpPr>
          <p:cNvPr id="16" name="Text 11"/>
          <p:cNvSpPr/>
          <p:nvPr/>
        </p:nvSpPr>
        <p:spPr>
          <a:xfrm>
            <a:off x="8871585" y="2476738"/>
            <a:ext cx="1506141" cy="188238"/>
          </a:xfrm>
          <a:prstGeom prst="rect">
            <a:avLst/>
          </a:prstGeom>
          <a:noFill/>
        </p:spPr>
        <p:txBody>
          <a:bodyPr wrap="none" lIns="0" tIns="0" rIns="0" bIns="0" rtlCol="0" anchor="t"/>
          <a:lstStyle/>
          <a:p>
            <a:pPr marL="0" indent="0" algn="l">
              <a:lnSpc>
                <a:spcPts val="1450"/>
              </a:lnSpc>
              <a:buNone/>
            </a:pPr>
            <a:r>
              <a:rPr lang="en-US" sz="1150" dirty="0">
                <a:solidFill>
                  <a:srgbClr val="000000"/>
                </a:solidFill>
                <a:latin typeface="Playfair Display Semi Bold" pitchFamily="34" charset="0"/>
                <a:ea typeface="Playfair Display Semi Bold" pitchFamily="34" charset="-122"/>
                <a:cs typeface="Playfair Display Semi Bold" pitchFamily="34" charset="-120"/>
              </a:rPr>
              <a:t>Job Title</a:t>
            </a:r>
            <a:endParaRPr lang="en-US" sz="1150" dirty="0"/>
          </a:p>
        </p:txBody>
      </p:sp>
      <p:sp>
        <p:nvSpPr>
          <p:cNvPr id="17" name="Text 12"/>
          <p:cNvSpPr/>
          <p:nvPr/>
        </p:nvSpPr>
        <p:spPr>
          <a:xfrm>
            <a:off x="8871585" y="2703314"/>
            <a:ext cx="2472690" cy="147518"/>
          </a:xfrm>
          <a:prstGeom prst="rect">
            <a:avLst/>
          </a:prstGeom>
          <a:noFill/>
        </p:spPr>
        <p:txBody>
          <a:bodyPr wrap="none" lIns="0" tIns="0" rIns="0" bIns="0" rtlCol="0" anchor="t"/>
          <a:lstStyle/>
          <a:p>
            <a:pPr marL="0" indent="0" algn="l">
              <a:lnSpc>
                <a:spcPts val="1150"/>
              </a:lnSpc>
              <a:buNone/>
            </a:pPr>
            <a:r>
              <a:rPr lang="en-US" sz="900" dirty="0">
                <a:solidFill>
                  <a:srgbClr val="000000"/>
                </a:solidFill>
                <a:latin typeface="Public Sans" pitchFamily="34" charset="0"/>
                <a:ea typeface="Public Sans" pitchFamily="34" charset="-122"/>
                <a:cs typeface="Public Sans" pitchFamily="34" charset="-120"/>
              </a:rPr>
              <a:t>Senior Data Scientist</a:t>
            </a:r>
            <a:endParaRPr lang="en-US" sz="900" dirty="0"/>
          </a:p>
        </p:txBody>
      </p:sp>
      <p:sp>
        <p:nvSpPr>
          <p:cNvPr id="18" name="Text 13"/>
          <p:cNvSpPr/>
          <p:nvPr/>
        </p:nvSpPr>
        <p:spPr>
          <a:xfrm>
            <a:off x="3158014" y="3222427"/>
            <a:ext cx="7806928" cy="753070"/>
          </a:xfrm>
          <a:prstGeom prst="rect">
            <a:avLst/>
          </a:prstGeom>
          <a:noFill/>
        </p:spPr>
        <p:txBody>
          <a:bodyPr wrap="none" lIns="0" tIns="0" rIns="0" bIns="0" rtlCol="0" anchor="t"/>
          <a:lstStyle/>
          <a:p>
            <a:pPr marL="0" indent="0" algn="l">
              <a:lnSpc>
                <a:spcPts val="5900"/>
              </a:lnSpc>
              <a:buNone/>
            </a:pPr>
            <a:r>
              <a:rPr lang="en-US" sz="4700" dirty="0">
                <a:solidFill>
                  <a:srgbClr val="B05B5C"/>
                </a:solidFill>
                <a:latin typeface="Playfair Display Semi Bold" pitchFamily="34" charset="0"/>
                <a:ea typeface="Playfair Display Semi Bold" pitchFamily="34" charset="-122"/>
                <a:cs typeface="Playfair Display Semi Bold" pitchFamily="34" charset="-120"/>
              </a:rPr>
              <a:t>Predicted Salary: ₹12,50,000</a:t>
            </a:r>
            <a:endParaRPr lang="en-US" sz="4700" dirty="0"/>
          </a:p>
        </p:txBody>
      </p:sp>
      <p:sp>
        <p:nvSpPr>
          <p:cNvPr id="19" name="Shape 14"/>
          <p:cNvSpPr/>
          <p:nvPr/>
        </p:nvSpPr>
        <p:spPr>
          <a:xfrm>
            <a:off x="3158014" y="4131709"/>
            <a:ext cx="8314373" cy="22622"/>
          </a:xfrm>
          <a:prstGeom prst="rect">
            <a:avLst/>
          </a:prstGeom>
          <a:solidFill>
            <a:srgbClr val="6F655D">
              <a:alpha val="50000"/>
            </a:srgbClr>
          </a:solidFill>
        </p:spPr>
      </p:sp>
      <p:sp>
        <p:nvSpPr>
          <p:cNvPr id="20" name="Text 15"/>
          <p:cNvSpPr/>
          <p:nvPr/>
        </p:nvSpPr>
        <p:spPr>
          <a:xfrm>
            <a:off x="3158014" y="4250293"/>
            <a:ext cx="1807369" cy="225862"/>
          </a:xfrm>
          <a:prstGeom prst="rect">
            <a:avLst/>
          </a:prstGeom>
          <a:noFill/>
        </p:spPr>
        <p:txBody>
          <a:bodyPr wrap="none" lIns="0" tIns="0" rIns="0" bIns="0" rtlCol="0" anchor="t"/>
          <a:lstStyle/>
          <a:p>
            <a:pPr marL="0" indent="0" algn="l">
              <a:lnSpc>
                <a:spcPts val="1750"/>
              </a:lnSpc>
              <a:buNone/>
            </a:pPr>
            <a:r>
              <a:rPr lang="en-US" sz="1400" dirty="0">
                <a:solidFill>
                  <a:srgbClr val="4B6981"/>
                </a:solidFill>
                <a:latin typeface="Playfair Display Semi Bold" pitchFamily="34" charset="0"/>
                <a:ea typeface="Playfair Display Semi Bold" pitchFamily="34" charset="-122"/>
                <a:cs typeface="Playfair Display Semi Bold" pitchFamily="34" charset="-120"/>
              </a:rPr>
              <a:t>Code Implementation</a:t>
            </a:r>
            <a:endParaRPr lang="en-US" sz="1400" dirty="0"/>
          </a:p>
        </p:txBody>
      </p:sp>
      <p:sp>
        <p:nvSpPr>
          <p:cNvPr id="21" name="Shape 16"/>
          <p:cNvSpPr/>
          <p:nvPr/>
        </p:nvSpPr>
        <p:spPr>
          <a:xfrm>
            <a:off x="3158014" y="4572119"/>
            <a:ext cx="8314373" cy="1655921"/>
          </a:xfrm>
          <a:prstGeom prst="roundRect">
            <a:avLst>
              <a:gd name="adj" fmla="val 3056"/>
            </a:avLst>
          </a:prstGeom>
          <a:solidFill>
            <a:srgbClr val="F2EDE9"/>
          </a:solidFill>
        </p:spPr>
      </p:sp>
      <p:sp>
        <p:nvSpPr>
          <p:cNvPr id="22" name="Shape 17"/>
          <p:cNvSpPr/>
          <p:nvPr/>
        </p:nvSpPr>
        <p:spPr>
          <a:xfrm>
            <a:off x="3152061" y="4572119"/>
            <a:ext cx="8326279" cy="1655921"/>
          </a:xfrm>
          <a:prstGeom prst="roundRect">
            <a:avLst>
              <a:gd name="adj" fmla="val 1092"/>
            </a:avLst>
          </a:prstGeom>
          <a:solidFill>
            <a:srgbClr val="F2EDE9"/>
          </a:solidFill>
        </p:spPr>
      </p:sp>
      <p:sp>
        <p:nvSpPr>
          <p:cNvPr id="23" name="Text 18"/>
          <p:cNvSpPr/>
          <p:nvPr/>
        </p:nvSpPr>
        <p:spPr>
          <a:xfrm>
            <a:off x="3272552" y="4662488"/>
            <a:ext cx="8085296" cy="1475184"/>
          </a:xfrm>
          <a:prstGeom prst="rect">
            <a:avLst/>
          </a:prstGeom>
          <a:noFill/>
        </p:spPr>
        <p:txBody>
          <a:bodyPr wrap="square" lIns="0" tIns="0" rIns="0" bIns="0" rtlCol="0" anchor="t"/>
          <a:lstStyle/>
          <a:p>
            <a:pPr marL="0" indent="0" algn="l">
              <a:lnSpc>
                <a:spcPts val="1150"/>
              </a:lnSpc>
              <a:buNone/>
            </a:pPr>
            <a:r>
              <a:rPr lang="en-US" sz="900" dirty="0">
                <a:solidFill>
                  <a:srgbClr val="6F655D"/>
                </a:solidFill>
                <a:highlight>
                  <a:srgbClr val="F2EDE9"/>
                </a:highlight>
                <a:latin typeface="Consolas" panose="020B0609020204030204" pitchFamily="34" charset="0"/>
                <a:ea typeface="Consolas" panose="020B0609020204030204" pitchFamily="34" charset="-122"/>
                <a:cs typeface="Consolas" panose="020B0609020204030204" pitchFamily="34" charset="-120"/>
              </a:rPr>
              <a:t># Prepare input data
new_data = np.array([[2, 5, 3]])  # Encoded values
# Make prediction
prediction = model.predict(new_data)
predicted_salary = prediction[0]
# Display result
print(f"Predicted Salary: ₹{predicted_salary:,.2f}")
</a:t>
            </a:r>
            <a:endParaRPr lang="en-US" sz="900" dirty="0"/>
          </a:p>
        </p:txBody>
      </p:sp>
      <p:sp>
        <p:nvSpPr>
          <p:cNvPr id="24" name="Text 19"/>
          <p:cNvSpPr/>
          <p:nvPr/>
        </p:nvSpPr>
        <p:spPr>
          <a:xfrm>
            <a:off x="3338751" y="6371868"/>
            <a:ext cx="8133636" cy="147518"/>
          </a:xfrm>
          <a:prstGeom prst="rect">
            <a:avLst/>
          </a:prstGeom>
          <a:noFill/>
        </p:spPr>
        <p:txBody>
          <a:bodyPr wrap="none" lIns="0" tIns="0" rIns="0" bIns="0" rtlCol="0" anchor="t"/>
          <a:lstStyle/>
          <a:p>
            <a:pPr marL="0" indent="0" algn="l">
              <a:lnSpc>
                <a:spcPts val="1150"/>
              </a:lnSpc>
              <a:buNone/>
            </a:pPr>
            <a:r>
              <a:rPr lang="en-US" sz="900" b="1" dirty="0">
                <a:solidFill>
                  <a:srgbClr val="6F655D"/>
                </a:solidFill>
                <a:latin typeface="Public Sans" pitchFamily="34" charset="0"/>
                <a:ea typeface="Public Sans" pitchFamily="34" charset="-122"/>
                <a:cs typeface="Public Sans" pitchFamily="34" charset="-120"/>
              </a:rPr>
              <a:t>Thank you for reviewing this project.</a:t>
            </a:r>
            <a:endParaRPr lang="en-US" sz="900" dirty="0"/>
          </a:p>
        </p:txBody>
      </p:sp>
      <p:sp>
        <p:nvSpPr>
          <p:cNvPr id="25" name="Text 20"/>
          <p:cNvSpPr/>
          <p:nvPr/>
        </p:nvSpPr>
        <p:spPr>
          <a:xfrm>
            <a:off x="3338751" y="6591300"/>
            <a:ext cx="8133636" cy="147518"/>
          </a:xfrm>
          <a:prstGeom prst="rect">
            <a:avLst/>
          </a:prstGeom>
          <a:noFill/>
        </p:spPr>
        <p:txBody>
          <a:bodyPr wrap="none" lIns="0" tIns="0" rIns="0" bIns="0" rtlCol="0" anchor="t"/>
          <a:lstStyle/>
          <a:p>
            <a:pPr marL="0" indent="0" algn="l">
              <a:lnSpc>
                <a:spcPts val="1150"/>
              </a:lnSpc>
              <a:buNone/>
            </a:pPr>
            <a:r>
              <a:rPr lang="en-US" sz="900" i="1" dirty="0">
                <a:solidFill>
                  <a:srgbClr val="6F655D"/>
                </a:solidFill>
                <a:latin typeface="Public Sans" pitchFamily="34" charset="0"/>
                <a:ea typeface="Public Sans" pitchFamily="34" charset="-122"/>
                <a:cs typeface="Public Sans" pitchFamily="34" charset="-120"/>
              </a:rPr>
              <a:t>— Uttam Kumar Tripathi</a:t>
            </a:r>
            <a:endParaRPr lang="en-US" sz="900" dirty="0"/>
          </a:p>
        </p:txBody>
      </p:sp>
      <p:sp>
        <p:nvSpPr>
          <p:cNvPr id="26" name="Shape 21"/>
          <p:cNvSpPr/>
          <p:nvPr/>
        </p:nvSpPr>
        <p:spPr>
          <a:xfrm>
            <a:off x="3158014" y="6299954"/>
            <a:ext cx="15240" cy="510778"/>
          </a:xfrm>
          <a:prstGeom prst="rect">
            <a:avLst/>
          </a:prstGeom>
          <a:solidFill>
            <a:srgbClr val="E1C2C2"/>
          </a:solid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7833</Words>
  <Application>WPS Presentation</Application>
  <PresentationFormat>On-screen Show (16:9)</PresentationFormat>
  <Paragraphs>276</Paragraphs>
  <Slides>16</Slides>
  <Notes>10</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16</vt:i4>
      </vt:variant>
    </vt:vector>
  </HeadingPairs>
  <TitlesOfParts>
    <vt:vector size="38" baseType="lpstr">
      <vt:lpstr>Arial</vt:lpstr>
      <vt:lpstr>SimSun</vt:lpstr>
      <vt:lpstr>Wingdings</vt:lpstr>
      <vt:lpstr>Playfair Display Semi Bold</vt:lpstr>
      <vt:lpstr>Playfair Display Semi Bold</vt:lpstr>
      <vt:lpstr>Playfair Display Semi Bold</vt:lpstr>
      <vt:lpstr>Public Sans</vt:lpstr>
      <vt:lpstr>Public Sans</vt:lpstr>
      <vt:lpstr>Public Sans</vt:lpstr>
      <vt:lpstr>Consolas</vt:lpstr>
      <vt:lpstr>Consolas</vt:lpstr>
      <vt:lpstr>Consolas</vt:lpstr>
      <vt:lpstr>Playfair Display Light</vt:lpstr>
      <vt:lpstr>Segoe Print</vt:lpstr>
      <vt:lpstr>Playfair Display Light</vt:lpstr>
      <vt:lpstr>Playfair Display Light</vt:lpstr>
      <vt:lpstr>Calibri</vt:lpstr>
      <vt:lpstr>Microsoft YaHei</vt:lpstr>
      <vt:lpstr>Arial Unicode MS</vt:lpstr>
      <vt:lpstr>MingLiU-ExtB</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uttam</cp:lastModifiedBy>
  <cp:revision>3</cp:revision>
  <dcterms:created xsi:type="dcterms:W3CDTF">2026-03-11T16:45:00Z</dcterms:created>
  <dcterms:modified xsi:type="dcterms:W3CDTF">2026-03-11T17:18:06Z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F4B7FC5C27B147B0B0B76E45362C66B8_13</vt:lpwstr>
  </property>
  <property fmtid="{D5CDD505-2E9C-101B-9397-08002B2CF9AE}" pid="3" name="KSOProductBuildVer">
    <vt:lpwstr>1033-12.2.0.23196</vt:lpwstr>
  </property>
</Properties>
</file>